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C5282"/>
                </a:solidFill>
              </a:defRPr>
            </a:pPr>
            <a:r>
              <a:t>AI-Powered Test Automation:</a:t>
            </a:r>
          </a:p>
          <a:p>
            <a:r>
              <a:t>Mapping Complex Approval Workflows at 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505050"/>
                </a:solidFill>
              </a:defRPr>
            </a:pPr>
            <a:r>
              <a:t>A Case Study in Human-AI Collaboration</a:t>
            </a:r>
          </a:p>
          <a:p/>
          <a:p>
            <a:r>
              <a:t>Alex Faulkner, Test Automation Lead</a:t>
            </a:r>
          </a:p>
          <a:p>
            <a:r>
              <a:t>DigiBlu / Experience Travel Group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The Challenge: Testing Complex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System:</a:t>
            </a:r>
          </a:p>
          <a:p>
            <a:pPr>
              <a:spcAft>
                <a:spcPts val="1000"/>
              </a:spcAft>
              <a:defRPr sz="1800"/>
            </a:pPr>
            <a:r>
              <a:t>• Payment system with 6 different payment types</a:t>
            </a:r>
          </a:p>
          <a:p>
            <a:pPr>
              <a:spcAft>
                <a:spcPts val="1000"/>
              </a:spcAft>
              <a:defRPr sz="1800"/>
            </a:pPr>
            <a:r>
              <a:t>• Up to 5 approval levels (PCM → RD → RCM → CFO → CEO)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Complexity:</a:t>
            </a:r>
          </a:p>
          <a:p>
            <a:pPr>
              <a:spcAft>
                <a:spcPts val="1000"/>
              </a:spcAft>
              <a:defRPr sz="1800"/>
            </a:pPr>
            <a:r>
              <a:t>• 61 unique approval workflows</a:t>
            </a:r>
          </a:p>
          <a:p>
            <a:pPr>
              <a:spcAft>
                <a:spcPts val="1000"/>
              </a:spcAft>
              <a:defRPr sz="1800"/>
            </a:pPr>
            <a:r>
              <a:t>• 276 distinct rejection scenarios requiring testing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Risk:</a:t>
            </a:r>
          </a:p>
          <a:p>
            <a:pPr>
              <a:spcAft>
                <a:spcPts val="1000"/>
              </a:spcAft>
              <a:defRPr sz="1800"/>
            </a:pPr>
            <a:r>
              <a:t>• Manual testing was error-prone and unmaintainable</a:t>
            </a:r>
          </a:p>
          <a:p>
            <a:pPr>
              <a:spcAft>
                <a:spcPts val="1000"/>
              </a:spcAft>
              <a:defRPr sz="1800"/>
            </a:pPr>
            <a:r>
              <a:t>• Business risks: Compliance violations &amp; financial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The Scale of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Why Traditional Testing Failed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Numbers:</a:t>
            </a:r>
          </a:p>
          <a:p>
            <a:pPr>
              <a:spcAft>
                <a:spcPts val="1000"/>
              </a:spcAft>
              <a:defRPr sz="1800"/>
            </a:pPr>
            <a:r>
              <a:t>• 61 Unique Workflows</a:t>
            </a:r>
          </a:p>
          <a:p>
            <a:pPr>
              <a:spcAft>
                <a:spcPts val="1000"/>
              </a:spcAft>
              <a:defRPr sz="1800"/>
            </a:pPr>
            <a:r>
              <a:t>• 4 Raising Locations</a:t>
            </a:r>
          </a:p>
          <a:p>
            <a:pPr>
              <a:spcAft>
                <a:spcPts val="1000"/>
              </a:spcAft>
              <a:defRPr sz="1800"/>
            </a:pPr>
            <a:r>
              <a:t>• 6 Payment Types</a:t>
            </a:r>
          </a:p>
          <a:p>
            <a:pPr>
              <a:spcAft>
                <a:spcPts val="1000"/>
              </a:spcAft>
              <a:defRPr sz="1800"/>
            </a:pPr>
            <a:r>
              <a:t>• = 276 Rejection Scenarios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Variable Logic:</a:t>
            </a:r>
          </a:p>
          <a:p>
            <a:pPr>
              <a:spcAft>
                <a:spcPts val="1000"/>
              </a:spcAft>
              <a:defRPr sz="1800"/>
            </a:pPr>
            <a:r>
              <a:t>• Rejection routing changes based on WHO rejected and WHEN.</a:t>
            </a:r>
          </a:p>
          <a:p>
            <a:pPr>
              <a:spcAft>
                <a:spcPts val="1000"/>
              </a:spcAft>
              <a:defRPr sz="1800"/>
            </a:pPr>
            <a:r>
              <a:t>• Impossible to track all permutations manually (100+ page spec).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The AI Solution: Mapping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Step 1: Ingestion</a:t>
            </a:r>
          </a:p>
          <a:p>
            <a:pPr>
              <a:spcAft>
                <a:spcPts val="1000"/>
              </a:spcAft>
              <a:defRPr sz="1800"/>
            </a:pPr>
            <a:r>
              <a:t>• Fed Claude AI the 100+ page Solution Spec &amp; Excel logic.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Step 2: Pattern Recognition</a:t>
            </a:r>
          </a:p>
          <a:p>
            <a:pPr>
              <a:spcAft>
                <a:spcPts val="1000"/>
              </a:spcAft>
              <a:defRPr sz="1800"/>
            </a:pPr>
            <a:r>
              <a:t>• AI identified 61 unique configurations.</a:t>
            </a:r>
          </a:p>
          <a:p>
            <a:pPr>
              <a:spcAft>
                <a:spcPts val="1000"/>
              </a:spcAft>
              <a:defRPr sz="1800"/>
            </a:pPr>
            <a:r>
              <a:t>• Handled complex merged-cell logic in Excel.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Step 3: Output</a:t>
            </a:r>
          </a:p>
          <a:p>
            <a:pPr>
              <a:spcAft>
                <a:spcPts val="1000"/>
              </a:spcAft>
              <a:defRPr sz="1800"/>
            </a:pPr>
            <a:r>
              <a:t>• Dynamic Excel Workbook with 276 scenarios.</a:t>
            </a:r>
          </a:p>
          <a:p>
            <a:pPr>
              <a:spcAft>
                <a:spcPts val="1000"/>
              </a:spcAft>
              <a:defRPr sz="1800"/>
            </a:pPr>
            <a:r>
              <a:t>• Color-coded: Green (Happy), Red (Delete), Yellow (Reject), Blue (Recovery).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The AI Solution: Automation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From Scenarios to Scripts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Generated ~4,700 lines of Python code (Selenium + Playwright)</a:t>
            </a:r>
          </a:p>
          <a:p>
            <a:pPr>
              <a:spcAft>
                <a:spcPts val="1000"/>
              </a:spcAft>
              <a:defRPr sz="1800"/>
            </a:pPr>
            <a:r>
              <a:t>• Created ~112 automated test cases supporting all 6 payment types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Advanced Features Implemented:</a:t>
            </a:r>
          </a:p>
          <a:p>
            <a:pPr>
              <a:spcAft>
                <a:spcPts val="1000"/>
              </a:spcAft>
              <a:defRPr sz="1800"/>
            </a:pPr>
            <a:r>
              <a:t>• PDF Validation: Downloads &amp; verifies 11 specific fields per submission</a:t>
            </a:r>
          </a:p>
          <a:p>
            <a:pPr>
              <a:spcAft>
                <a:spcPts val="1000"/>
              </a:spcAft>
              <a:defRPr sz="1800"/>
            </a:pPr>
            <a:r>
              <a:t>• Email Integration: Checks approval emails via IMAP</a:t>
            </a:r>
          </a:p>
          <a:p>
            <a:pPr>
              <a:spcAft>
                <a:spcPts val="1000"/>
              </a:spcAft>
              <a:defRPr sz="1800"/>
            </a:pPr>
            <a:r>
              <a:t>• Evidence: Auto-captures screenshots &amp; generates CSV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How We Implemented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Human + AI Collaboration Model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Humans Provided:</a:t>
            </a:r>
          </a:p>
          <a:p>
            <a:pPr>
              <a:spcAft>
                <a:spcPts val="1000"/>
              </a:spcAft>
              <a:defRPr sz="1800"/>
            </a:pPr>
            <a:r>
              <a:t>• Business context &amp; domain knowledge</a:t>
            </a:r>
          </a:p>
          <a:p>
            <a:pPr>
              <a:spcAft>
                <a:spcPts val="1000"/>
              </a:spcAft>
              <a:defRPr sz="1800"/>
            </a:pPr>
            <a:r>
              <a:t>• Logic validation &amp; decision making</a:t>
            </a:r>
          </a:p>
          <a:p>
            <a:pPr>
              <a:spcAft>
                <a:spcPts val="1000"/>
              </a:spcAft>
              <a:defRPr sz="1800"/>
            </a:pPr>
            <a:r>
              <a:t>• QA of AI outputs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AI Provided:</a:t>
            </a:r>
          </a:p>
          <a:p>
            <a:pPr>
              <a:spcAft>
                <a:spcPts val="1000"/>
              </a:spcAft>
              <a:defRPr sz="1800"/>
            </a:pPr>
            <a:r>
              <a:t>• Pattern recognition across 61 workflows</a:t>
            </a:r>
          </a:p>
          <a:p>
            <a:pPr>
              <a:spcAft>
                <a:spcPts val="1000"/>
              </a:spcAft>
              <a:defRPr sz="1800"/>
            </a:pPr>
            <a:r>
              <a:t>• Rapid code generation (~4,700 lines)</a:t>
            </a:r>
          </a:p>
          <a:p>
            <a:pPr>
              <a:spcAft>
                <a:spcPts val="1000"/>
              </a:spcAft>
              <a:defRPr sz="1800"/>
            </a:pPr>
            <a:r>
              <a:t>• Exhaustive scenario enumeration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Timeline: 12 Weeks from concept to 6 fully automated payment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Real Example: AI Solving the Impossible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Merged Cells Problem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Challenge: </a:t>
            </a:r>
          </a:p>
          <a:p>
            <a:pPr>
              <a:spcAft>
                <a:spcPts val="1000"/>
              </a:spcAft>
              <a:defRPr sz="1800"/>
            </a:pPr>
            <a:r>
              <a:t>• Excel logic used merged cells. Standard Python libs read these as "Blank".</a:t>
            </a:r>
          </a:p>
          <a:p>
            <a:pPr>
              <a:spcAft>
                <a:spcPts val="1000"/>
              </a:spcAft>
              <a:defRPr sz="1800"/>
            </a:pPr>
            <a:r>
              <a:t>• 50+ workflows appeared broken.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Traditional Solution:</a:t>
            </a:r>
          </a:p>
          <a:p>
            <a:pPr>
              <a:spcAft>
                <a:spcPts val="1000"/>
              </a:spcAft>
              <a:defRPr sz="1800"/>
            </a:pPr>
            <a:r>
              <a:t>• Manually unmerge and fix data (Est: 2-3 Weeks).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AI Solution:</a:t>
            </a:r>
          </a:p>
          <a:p>
            <a:pPr>
              <a:spcAft>
                <a:spcPts val="1000"/>
              </a:spcAft>
              <a:defRPr sz="1800"/>
            </a:pPr>
            <a:r>
              <a:t>• Identified issue and wrote code using 'openpyxl'.</a:t>
            </a:r>
          </a:p>
          <a:p>
            <a:pPr>
              <a:spcAft>
                <a:spcPts val="1000"/>
              </a:spcAft>
              <a:defRPr sz="1800"/>
            </a:pPr>
            <a:r>
              <a:t>• Logic: Detect ranges, unmerge, backfill values.</a:t>
            </a:r>
          </a:p>
          <a:p>
            <a:pPr>
              <a:spcAft>
                <a:spcPts val="1000"/>
              </a:spcAft>
              <a:defRPr sz="1800"/>
            </a:pPr>
            <a:r>
              <a:t>• Result: Solved in 1 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The Results: By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Measurable Impact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COVERAGE:</a:t>
            </a:r>
          </a:p>
          <a:p>
            <a:pPr>
              <a:spcAft>
                <a:spcPts val="1000"/>
              </a:spcAft>
              <a:defRPr sz="1800"/>
            </a:pPr>
            <a:r>
              <a:t>• 100% Payment Types Automated (6/6)</a:t>
            </a:r>
          </a:p>
          <a:p>
            <a:pPr>
              <a:spcAft>
                <a:spcPts val="1000"/>
              </a:spcAft>
              <a:defRPr sz="1800"/>
            </a:pPr>
            <a:r>
              <a:t>• 100% Rejection Scenarios Mapped (276/276)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SPEED:</a:t>
            </a:r>
          </a:p>
          <a:p>
            <a:pPr>
              <a:spcAft>
                <a:spcPts val="1000"/>
              </a:spcAft>
              <a:defRPr sz="1800"/>
            </a:pPr>
            <a:r>
              <a:t>• Manual Test: 2-3 hours per cycle → Automated: 5-10 minutes.</a:t>
            </a:r>
          </a:p>
          <a:p>
            <a:pPr>
              <a:spcAft>
                <a:spcPts val="1000"/>
              </a:spcAft>
              <a:defRPr sz="1800"/>
            </a:pPr>
            <a:r>
              <a:t>• 90-95% Time Savings per cycle.</a:t>
            </a:r>
          </a:p>
          <a:p>
            <a:pPr>
              <a:spcAft>
                <a:spcPts val="1000"/>
              </a:spcAft>
              <a:defRPr sz="1800"/>
            </a:pPr>
            <a:r>
              <a:t>• Development Speed: 60-70% faster with AI assistance.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QUALITY:</a:t>
            </a:r>
          </a:p>
          <a:p>
            <a:pPr>
              <a:spcAft>
                <a:spcPts val="1000"/>
              </a:spcAft>
              <a:defRPr sz="1800"/>
            </a:pPr>
            <a:r>
              <a:t>• Consistent Screenshot evidence &amp; 3-tier error handling.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What Made This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Iterative Collaboration</a:t>
            </a:r>
          </a:p>
          <a:p>
            <a:pPr>
              <a:spcAft>
                <a:spcPts val="1000"/>
              </a:spcAft>
              <a:defRPr sz="1800"/>
            </a:pPr>
            <a:r>
              <a:t>Started small (POC) and learned from each iteration.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AI as Force Multiplier</a:t>
            </a:r>
          </a:p>
          <a:p>
            <a:pPr>
              <a:spcAft>
                <a:spcPts val="1000"/>
              </a:spcAft>
              <a:defRPr sz="1800"/>
            </a:pPr>
            <a:r>
              <a:t>Single developer + AI = Team-level output.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Breaking Down Complexity</a:t>
            </a:r>
          </a:p>
          <a:p>
            <a:pPr>
              <a:spcAft>
                <a:spcPts val="1000"/>
              </a:spcAft>
              <a:defRPr sz="1800"/>
            </a:pPr>
            <a:r>
              <a:t>Phased approach: Map Logic → Generate Scripts → Scale → Document.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Documentation First</a:t>
            </a:r>
          </a:p>
          <a:p>
            <a:pPr>
              <a:spcAft>
                <a:spcPts val="1000"/>
              </a:spcAft>
              <a:defRPr sz="1800"/>
            </a:pPr>
            <a:r>
              <a:t>AI generated docs alongside code, ensuring future-proofing and easy transfer.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✅ What Worked:</a:t>
            </a:r>
          </a:p>
          <a:p>
            <a:pPr>
              <a:spcAft>
                <a:spcPts val="1000"/>
              </a:spcAft>
              <a:defRPr sz="1800"/>
            </a:pPr>
            <a:r>
              <a:t>• Breaking complex problems into smaller pieces.</a:t>
            </a:r>
          </a:p>
          <a:p>
            <a:pPr>
              <a:spcAft>
                <a:spcPts val="1000"/>
              </a:spcAft>
              <a:defRPr sz="1800"/>
            </a:pPr>
            <a:r>
              <a:t>• Using AI for pattern recognition, not just coding.</a:t>
            </a:r>
          </a:p>
          <a:p>
            <a:pPr>
              <a:spcAft>
                <a:spcPts val="1000"/>
              </a:spcAft>
              <a:defRPr sz="1800"/>
            </a:pPr>
            <a:r>
              <a:t>• Validating AI outputs against known scenarios.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⚠️ Challenges Overcome:</a:t>
            </a:r>
          </a:p>
          <a:p>
            <a:pPr>
              <a:spcAft>
                <a:spcPts val="1000"/>
              </a:spcAft>
              <a:defRPr sz="1800"/>
            </a:pPr>
            <a:r>
              <a:t>• AI code was ~80% correct (needed human refinement).</a:t>
            </a:r>
          </a:p>
          <a:p>
            <a:pPr>
              <a:spcAft>
                <a:spcPts val="1000"/>
              </a:spcAft>
              <a:defRPr sz="1800"/>
            </a:pPr>
            <a:r>
              <a:t>• Dynamic forms required smart 'wait' logic.</a:t>
            </a:r>
          </a:p>
          <a:p>
            <a:pPr>
              <a:spcAft>
                <a:spcPts val="1000"/>
              </a:spcAft>
              <a:defRPr sz="1800"/>
            </a:pPr>
            <a:r>
              <a:t>• Email authentication needed specific workarounds.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Key Insight:</a:t>
            </a:r>
          </a:p>
          <a:p>
            <a:pPr>
              <a:spcAft>
                <a:spcPts val="1000"/>
              </a:spcAft>
              <a:defRPr sz="1800"/>
            </a:pPr>
            <a:r>
              <a:t>AI accelerates execution, but Human oversight ensures correctness.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Beyond Testing: 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Why This Matters &amp; Where It Transfers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This Approach Applies To:</a:t>
            </a:r>
          </a:p>
          <a:p>
            <a:pPr>
              <a:spcAft>
                <a:spcPts val="1000"/>
              </a:spcAft>
              <a:defRPr sz="1800"/>
            </a:pPr>
            <a:r>
              <a:t>• Healthcare: Patient journey workflows</a:t>
            </a:r>
          </a:p>
          <a:p>
            <a:pPr>
              <a:spcAft>
                <a:spcPts val="1000"/>
              </a:spcAft>
              <a:defRPr sz="1800"/>
            </a:pPr>
            <a:r>
              <a:t>• Finance: Loan approval hierarchies</a:t>
            </a:r>
          </a:p>
          <a:p>
            <a:pPr>
              <a:spcAft>
                <a:spcPts val="1000"/>
              </a:spcAft>
              <a:defRPr sz="1800"/>
            </a:pPr>
            <a:r>
              <a:t>• Supply Chain: Procurement approvals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Paradigm Shift:</a:t>
            </a:r>
          </a:p>
          <a:p>
            <a:pPr>
              <a:spcAft>
                <a:spcPts val="1000"/>
              </a:spcAft>
              <a:defRPr sz="1800"/>
            </a:pPr>
            <a:r>
              <a:t>Test automation moving from "Lagging" (months behind) to "Leading" (ready alongside features).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Core Principle:</a:t>
            </a:r>
          </a:p>
          <a:p>
            <a:pPr>
              <a:spcAft>
                <a:spcPts val="1000"/>
              </a:spcAft>
              <a:defRPr sz="1800"/>
            </a:pPr>
            <a:r>
              <a:t>Use AI to map complex processes that humans struggle to visualize comprehensively.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2C5282"/>
                </a:solidFill>
              </a:defRPr>
            </a:pPr>
            <a:r>
              <a:t>Key Takeaways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Key Takeaways: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AI Democratizes Expertise (Small teams, big output).</a:t>
            </a:r>
          </a:p>
          <a:p>
            <a:pPr>
              <a:spcAft>
                <a:spcPts val="1000"/>
              </a:spcAft>
              <a:defRPr sz="1800"/>
            </a:pPr>
            <a:r>
              <a:t>2. Start with Understanding (Map first, code second).</a:t>
            </a:r>
          </a:p>
          <a:p>
            <a:pPr>
              <a:spcAft>
                <a:spcPts val="1000"/>
              </a:spcAft>
              <a:defRPr sz="1800"/>
            </a:pPr>
            <a:r>
              <a:t>3. Iterate and Validate (Human-AI loop).</a:t>
            </a:r>
          </a:p>
          <a:p>
            <a:pPr>
              <a:spcAft>
                <a:spcPts val="1000"/>
              </a:spcAft>
              <a:defRPr sz="1800"/>
            </a:pPr>
            <a:r>
              <a:t>4. Documentation Matters (Future-proof your solution).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What's Next:</a:t>
            </a:r>
          </a:p>
          <a:p>
            <a:pPr>
              <a:spcAft>
                <a:spcPts val="1000"/>
              </a:spcAft>
              <a:defRPr sz="1800"/>
            </a:pPr>
            <a:r>
              <a:t>• Expanding to self-healing tests and test data generation.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