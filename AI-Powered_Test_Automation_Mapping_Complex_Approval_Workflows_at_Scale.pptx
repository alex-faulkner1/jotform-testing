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212442"/>
            <a:ext cx="3929063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1A365D"/>
                </a:solidFill>
              </a:rPr>
              <a:t>AI-Powered Test Automation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428625" y="3452552"/>
            <a:ext cx="39290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38B2AC"/>
                </a:solidFill>
              </a:rPr>
              <a:t>Mapping Complex Approval Workflows at Scale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4786313" y="1503480"/>
            <a:ext cx="278994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D53F8C"/>
                </a:solidFill>
              </a:rPr>
              <a:t>A Case Study in Human-AI Collaboration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4786313" y="1930319"/>
            <a:ext cx="392906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784" b="1" dirty="0">
                <a:solidFill>
                  <a:srgbClr val="1A365D"/>
                </a:solidFill>
              </a:rPr>
              <a:t>Presenter:</a:t>
            </a:r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2D3748"/>
                </a:solidFill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2D3748"/>
                </a:solidFill>
              </a:rPr>
              <a:t>Alex Faulkner</a:t>
            </a:r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2D3748"/>
                </a:solidFill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2D3748"/>
                </a:solidFill>
              </a:rPr>
              <a:t>Test Automation Lead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4786313" y="2690347"/>
            <a:ext cx="3929063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784" b="1" dirty="0">
                <a:solidFill>
                  <a:srgbClr val="1A365D"/>
                </a:solidFill>
              </a:rPr>
              <a:t>Organisation:</a:t>
            </a:r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2D3748"/>
                </a:solidFill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2D3748"/>
                </a:solidFill>
              </a:rPr>
              <a:t>DigiBlu / Experience Travel Group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4786313" y="3244658"/>
            <a:ext cx="3929063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784" b="1" dirty="0">
                <a:solidFill>
                  <a:srgbClr val="1A365D"/>
                </a:solidFill>
              </a:rPr>
              <a:t>Date:</a:t>
            </a:r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2D3748"/>
                </a:solidFill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2D3748"/>
                </a:solidFill>
              </a:rPr>
              <a:t>November 2025</a:t>
            </a:r>
            <a:endParaRPr lang="en-US" sz="78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6578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6429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1A365D"/>
                </a:solidFill>
              </a:rPr>
              <a:t>The Challenge: Testing Complex Payment Approval Workflows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428625" y="1328738"/>
            <a:ext cx="4000500" cy="671513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1328738"/>
            <a:ext cx="42863" cy="671513"/>
          </a:xfrm>
          <a:prstGeom prst="rect">
            <a:avLst/>
          </a:prstGeom>
          <a:solidFill>
            <a:srgbClr val="D53F8C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471613"/>
            <a:ext cx="42862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D53F8C"/>
                </a:solidFill>
              </a:rPr>
              <a:t>6</a:t>
            </a:r>
            <a:endParaRPr lang="en-US" sz="1808" dirty="0"/>
          </a:p>
        </p:txBody>
      </p:sp>
      <p:sp>
        <p:nvSpPr>
          <p:cNvPr id="7" name="Text 4"/>
          <p:cNvSpPr/>
          <p:nvPr/>
        </p:nvSpPr>
        <p:spPr>
          <a:xfrm>
            <a:off x="1107281" y="1589484"/>
            <a:ext cx="156877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2D3748"/>
                </a:solidFill>
              </a:rPr>
              <a:t>Different payment types to test</a:t>
            </a:r>
            <a:endParaRPr lang="en-US" sz="780" dirty="0"/>
          </a:p>
        </p:txBody>
      </p:sp>
      <p:sp>
        <p:nvSpPr>
          <p:cNvPr id="8" name="Shape 5"/>
          <p:cNvSpPr/>
          <p:nvPr/>
        </p:nvSpPr>
        <p:spPr>
          <a:xfrm>
            <a:off x="428625" y="2143125"/>
            <a:ext cx="4000500" cy="671513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9" name="Shape 6"/>
          <p:cNvSpPr/>
          <p:nvPr/>
        </p:nvSpPr>
        <p:spPr>
          <a:xfrm>
            <a:off x="428625" y="2143125"/>
            <a:ext cx="42863" cy="671513"/>
          </a:xfrm>
          <a:prstGeom prst="rect">
            <a:avLst/>
          </a:prstGeom>
          <a:solidFill>
            <a:srgbClr val="D53F8C"/>
          </a:solidFill>
          <a:ln/>
        </p:spPr>
      </p:sp>
      <p:sp>
        <p:nvSpPr>
          <p:cNvPr id="10" name="Text 7"/>
          <p:cNvSpPr/>
          <p:nvPr/>
        </p:nvSpPr>
        <p:spPr>
          <a:xfrm>
            <a:off x="571500" y="2286000"/>
            <a:ext cx="42862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D53F8C"/>
                </a:solidFill>
              </a:rPr>
              <a:t>61</a:t>
            </a:r>
            <a:endParaRPr lang="en-US" sz="1808" dirty="0"/>
          </a:p>
        </p:txBody>
      </p:sp>
      <p:sp>
        <p:nvSpPr>
          <p:cNvPr id="11" name="Text 8"/>
          <p:cNvSpPr/>
          <p:nvPr/>
        </p:nvSpPr>
        <p:spPr>
          <a:xfrm>
            <a:off x="1107281" y="2403872"/>
            <a:ext cx="229615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2D3748"/>
                </a:solidFill>
              </a:rPr>
              <a:t>Unique approval workflows with varying rules</a:t>
            </a:r>
            <a:endParaRPr lang="en-US" sz="780" dirty="0"/>
          </a:p>
        </p:txBody>
      </p:sp>
      <p:sp>
        <p:nvSpPr>
          <p:cNvPr id="12" name="Shape 9"/>
          <p:cNvSpPr/>
          <p:nvPr/>
        </p:nvSpPr>
        <p:spPr>
          <a:xfrm>
            <a:off x="428625" y="2957513"/>
            <a:ext cx="4000500" cy="671513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3" name="Shape 10"/>
          <p:cNvSpPr/>
          <p:nvPr/>
        </p:nvSpPr>
        <p:spPr>
          <a:xfrm>
            <a:off x="428625" y="2957513"/>
            <a:ext cx="42863" cy="671513"/>
          </a:xfrm>
          <a:prstGeom prst="rect">
            <a:avLst/>
          </a:prstGeom>
          <a:solidFill>
            <a:srgbClr val="D53F8C"/>
          </a:solidFill>
          <a:ln/>
        </p:spPr>
      </p:sp>
      <p:sp>
        <p:nvSpPr>
          <p:cNvPr id="14" name="Text 11"/>
          <p:cNvSpPr/>
          <p:nvPr/>
        </p:nvSpPr>
        <p:spPr>
          <a:xfrm>
            <a:off x="571500" y="3100388"/>
            <a:ext cx="441322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D53F8C"/>
                </a:solidFill>
              </a:rPr>
              <a:t>276</a:t>
            </a:r>
            <a:endParaRPr lang="en-US" sz="1808" dirty="0"/>
          </a:p>
        </p:txBody>
      </p:sp>
      <p:sp>
        <p:nvSpPr>
          <p:cNvPr id="15" name="Text 12"/>
          <p:cNvSpPr/>
          <p:nvPr/>
        </p:nvSpPr>
        <p:spPr>
          <a:xfrm>
            <a:off x="1119978" y="3218259"/>
            <a:ext cx="222360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2D3748"/>
                </a:solidFill>
              </a:rPr>
              <a:t>Distinct rejection scenarios requiring testing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428625" y="3771900"/>
            <a:ext cx="4000500" cy="671513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7" name="Shape 14"/>
          <p:cNvSpPr/>
          <p:nvPr/>
        </p:nvSpPr>
        <p:spPr>
          <a:xfrm>
            <a:off x="428625" y="3771900"/>
            <a:ext cx="42863" cy="671513"/>
          </a:xfrm>
          <a:prstGeom prst="rect">
            <a:avLst/>
          </a:prstGeom>
          <a:solidFill>
            <a:srgbClr val="D53F8C"/>
          </a:solidFill>
          <a:ln/>
        </p:spPr>
      </p:sp>
      <p:sp>
        <p:nvSpPr>
          <p:cNvPr id="18" name="Text 15"/>
          <p:cNvSpPr/>
          <p:nvPr/>
        </p:nvSpPr>
        <p:spPr>
          <a:xfrm>
            <a:off x="571500" y="3914775"/>
            <a:ext cx="42862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D53F8C"/>
                </a:solidFill>
              </a:rPr>
              <a:t>5</a:t>
            </a:r>
            <a:endParaRPr lang="en-US" sz="1808" dirty="0"/>
          </a:p>
        </p:txBody>
      </p:sp>
      <p:sp>
        <p:nvSpPr>
          <p:cNvPr id="19" name="Text 16"/>
          <p:cNvSpPr/>
          <p:nvPr/>
        </p:nvSpPr>
        <p:spPr>
          <a:xfrm>
            <a:off x="1107281" y="4032647"/>
            <a:ext cx="252280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2D3748"/>
                </a:solidFill>
              </a:rPr>
              <a:t>Approval levels (PCM → RD → RCM → CFO → CEO)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428625" y="4657725"/>
            <a:ext cx="4000500" cy="642938"/>
          </a:xfrm>
          <a:prstGeom prst="rect">
            <a:avLst/>
          </a:prstGeom>
          <a:solidFill>
            <a:srgbClr val="FEF5E7"/>
          </a:solidFill>
          <a:ln/>
        </p:spPr>
      </p:sp>
      <p:sp>
        <p:nvSpPr>
          <p:cNvPr id="21" name="Shape 18"/>
          <p:cNvSpPr/>
          <p:nvPr/>
        </p:nvSpPr>
        <p:spPr>
          <a:xfrm>
            <a:off x="428625" y="4657725"/>
            <a:ext cx="42863" cy="642938"/>
          </a:xfrm>
          <a:prstGeom prst="rect">
            <a:avLst/>
          </a:prstGeom>
          <a:solidFill>
            <a:srgbClr val="D53F8C"/>
          </a:solidFill>
          <a:ln/>
        </p:spPr>
      </p:sp>
      <p:sp>
        <p:nvSpPr>
          <p:cNvPr id="22" name="Text 19"/>
          <p:cNvSpPr/>
          <p:nvPr/>
        </p:nvSpPr>
        <p:spPr>
          <a:xfrm>
            <a:off x="571500" y="4800600"/>
            <a:ext cx="37147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D3748"/>
                </a:solidFill>
              </a:rPr>
              <a:t>Manual testing was:</a:t>
            </a:r>
            <a:endParaRPr lang="en-US" sz="683" dirty="0"/>
          </a:p>
        </p:txBody>
      </p:sp>
      <p:sp>
        <p:nvSpPr>
          <p:cNvPr id="23" name="Text 20"/>
          <p:cNvSpPr/>
          <p:nvPr/>
        </p:nvSpPr>
        <p:spPr>
          <a:xfrm>
            <a:off x="571500" y="5007769"/>
            <a:ext cx="37147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D3748"/>
                </a:solidFill>
              </a:rPr>
              <a:t>Overwhelming, error-prone, and unmaintainable</a:t>
            </a:r>
            <a:endParaRPr lang="en-US" sz="727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75" y="1328738"/>
            <a:ext cx="4000500" cy="2000250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4714875" y="3614738"/>
            <a:ext cx="4000500" cy="1478756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6" name="Shape 22"/>
          <p:cNvSpPr/>
          <p:nvPr/>
        </p:nvSpPr>
        <p:spPr>
          <a:xfrm>
            <a:off x="4714875" y="3614738"/>
            <a:ext cx="42863" cy="1478756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27" name="Text 23"/>
          <p:cNvSpPr/>
          <p:nvPr/>
        </p:nvSpPr>
        <p:spPr>
          <a:xfrm>
            <a:off x="4857750" y="3886200"/>
            <a:ext cx="37147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365D"/>
                </a:solidFill>
              </a:rPr>
              <a:t>Business Risks if Testing Fails</a:t>
            </a:r>
            <a:endParaRPr lang="en-US" sz="683" dirty="0"/>
          </a:p>
        </p:txBody>
      </p:sp>
      <p:sp>
        <p:nvSpPr>
          <p:cNvPr id="28" name="Text 24"/>
          <p:cNvSpPr/>
          <p:nvPr/>
        </p:nvSpPr>
        <p:spPr>
          <a:xfrm>
            <a:off x="4857750" y="4121944"/>
            <a:ext cx="3714750" cy="15001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D3748"/>
                </a:solidFill>
              </a:rPr>
              <a:t>Payment processing delays</a:t>
            </a:r>
            <a:endParaRPr lang="en-US" sz="727" dirty="0"/>
          </a:p>
        </p:txBody>
      </p:sp>
      <p:sp>
        <p:nvSpPr>
          <p:cNvPr id="29" name="Text 25"/>
          <p:cNvSpPr/>
          <p:nvPr/>
        </p:nvSpPr>
        <p:spPr>
          <a:xfrm>
            <a:off x="4857750" y="4329113"/>
            <a:ext cx="3714750" cy="15001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D3748"/>
                </a:solidFill>
              </a:rPr>
              <a:t>Incorrect approvals or rejections</a:t>
            </a:r>
            <a:endParaRPr lang="en-US" sz="727" dirty="0"/>
          </a:p>
        </p:txBody>
      </p:sp>
      <p:sp>
        <p:nvSpPr>
          <p:cNvPr id="30" name="Text 26"/>
          <p:cNvSpPr/>
          <p:nvPr/>
        </p:nvSpPr>
        <p:spPr>
          <a:xfrm>
            <a:off x="4857750" y="4536281"/>
            <a:ext cx="3714750" cy="15001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D3748"/>
                </a:solidFill>
              </a:rPr>
              <a:t>Compliance violations</a:t>
            </a:r>
            <a:endParaRPr lang="en-US" sz="727" dirty="0"/>
          </a:p>
        </p:txBody>
      </p:sp>
      <p:sp>
        <p:nvSpPr>
          <p:cNvPr id="31" name="Text 27"/>
          <p:cNvSpPr/>
          <p:nvPr/>
        </p:nvSpPr>
        <p:spPr>
          <a:xfrm>
            <a:off x="4857750" y="4743450"/>
            <a:ext cx="3714750" cy="15001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D3748"/>
                </a:solidFill>
              </a:rPr>
              <a:t>Financial errors in regulated industry</a:t>
            </a:r>
            <a:endParaRPr lang="en-US" sz="727" dirty="0"/>
          </a:p>
        </p:txBody>
      </p:sp>
      <p:sp>
        <p:nvSpPr>
          <p:cNvPr id="32" name="Text 28"/>
          <p:cNvSpPr/>
          <p:nvPr/>
        </p:nvSpPr>
        <p:spPr>
          <a:xfrm>
            <a:off x="4857750" y="4121944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53F8C"/>
                </a:solidFill>
              </a:rPr>
              <a:t>●</a:t>
            </a:r>
            <a:endParaRPr lang="en-US" sz="727" dirty="0"/>
          </a:p>
        </p:txBody>
      </p:sp>
      <p:sp>
        <p:nvSpPr>
          <p:cNvPr id="33" name="Text 29"/>
          <p:cNvSpPr/>
          <p:nvPr/>
        </p:nvSpPr>
        <p:spPr>
          <a:xfrm>
            <a:off x="4857750" y="4329113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53F8C"/>
                </a:solidFill>
              </a:rPr>
              <a:t>●</a:t>
            </a:r>
            <a:endParaRPr lang="en-US" sz="727" dirty="0"/>
          </a:p>
        </p:txBody>
      </p:sp>
      <p:sp>
        <p:nvSpPr>
          <p:cNvPr id="34" name="Text 30"/>
          <p:cNvSpPr/>
          <p:nvPr/>
        </p:nvSpPr>
        <p:spPr>
          <a:xfrm>
            <a:off x="4857750" y="4536281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53F8C"/>
                </a:solidFill>
              </a:rPr>
              <a:t>●</a:t>
            </a:r>
            <a:endParaRPr lang="en-US" sz="727" dirty="0"/>
          </a:p>
        </p:txBody>
      </p:sp>
      <p:sp>
        <p:nvSpPr>
          <p:cNvPr id="35" name="Text 31"/>
          <p:cNvSpPr/>
          <p:nvPr/>
        </p:nvSpPr>
        <p:spPr>
          <a:xfrm>
            <a:off x="4857750" y="4743450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D53F8C"/>
                </a:solidFill>
              </a:rPr>
              <a:t>●</a:t>
            </a:r>
            <a:endParaRPr lang="en-US" sz="72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9543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1A365D"/>
                </a:solidFill>
              </a:rPr>
              <a:t>The Scale of Complexity: Why Traditional Testing Failed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950119"/>
            <a:ext cx="4000500" cy="242888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365D"/>
                </a:solidFill>
              </a:rPr>
              <a:t>The Numbers</a:t>
            </a:r>
            <a:endParaRPr lang="en-US" sz="683" dirty="0"/>
          </a:p>
        </p:txBody>
      </p:sp>
      <p:sp>
        <p:nvSpPr>
          <p:cNvPr id="5" name="Shape 2"/>
          <p:cNvSpPr/>
          <p:nvPr/>
        </p:nvSpPr>
        <p:spPr>
          <a:xfrm>
            <a:off x="428625" y="1300163"/>
            <a:ext cx="4000500" cy="321469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1300163"/>
            <a:ext cx="35719" cy="321469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7" name="Text 4"/>
          <p:cNvSpPr/>
          <p:nvPr/>
        </p:nvSpPr>
        <p:spPr>
          <a:xfrm>
            <a:off x="428625" y="1300163"/>
            <a:ext cx="4000500" cy="32146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D53F8C"/>
                </a:solidFill>
              </a:rPr>
              <a:t>61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D3748"/>
                </a:solidFill>
              </a:rPr>
              <a:t> unique approval workflows</a:t>
            </a:r>
            <a:endParaRPr lang="en-US" sz="683" dirty="0"/>
          </a:p>
        </p:txBody>
      </p:sp>
      <p:sp>
        <p:nvSpPr>
          <p:cNvPr id="8" name="Shape 5"/>
          <p:cNvSpPr/>
          <p:nvPr/>
        </p:nvSpPr>
        <p:spPr>
          <a:xfrm>
            <a:off x="428625" y="1693069"/>
            <a:ext cx="4000500" cy="321469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9" name="Shape 6"/>
          <p:cNvSpPr/>
          <p:nvPr/>
        </p:nvSpPr>
        <p:spPr>
          <a:xfrm>
            <a:off x="428625" y="1693069"/>
            <a:ext cx="35719" cy="321469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10" name="Text 7"/>
          <p:cNvSpPr/>
          <p:nvPr/>
        </p:nvSpPr>
        <p:spPr>
          <a:xfrm>
            <a:off x="428625" y="1693069"/>
            <a:ext cx="4000500" cy="32146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D53F8C"/>
                </a:solidFill>
              </a:rPr>
              <a:t>276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D3748"/>
                </a:solidFill>
              </a:rPr>
              <a:t> rejection scenarios to test</a:t>
            </a:r>
            <a:endParaRPr lang="en-US" sz="683" dirty="0"/>
          </a:p>
        </p:txBody>
      </p:sp>
      <p:sp>
        <p:nvSpPr>
          <p:cNvPr id="11" name="Shape 8"/>
          <p:cNvSpPr/>
          <p:nvPr/>
        </p:nvSpPr>
        <p:spPr>
          <a:xfrm>
            <a:off x="428625" y="2085975"/>
            <a:ext cx="4000500" cy="321469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2" name="Shape 9"/>
          <p:cNvSpPr/>
          <p:nvPr/>
        </p:nvSpPr>
        <p:spPr>
          <a:xfrm>
            <a:off x="428625" y="2085975"/>
            <a:ext cx="35719" cy="321469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13" name="Text 10"/>
          <p:cNvSpPr/>
          <p:nvPr/>
        </p:nvSpPr>
        <p:spPr>
          <a:xfrm>
            <a:off x="428625" y="2085975"/>
            <a:ext cx="4000500" cy="32146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D53F8C"/>
                </a:solidFill>
              </a:rPr>
              <a:t>4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D3748"/>
                </a:solidFill>
              </a:rPr>
              <a:t> raising locations</a:t>
            </a:r>
            <a:endParaRPr lang="en-US" sz="683" dirty="0"/>
          </a:p>
        </p:txBody>
      </p:sp>
      <p:sp>
        <p:nvSpPr>
          <p:cNvPr id="14" name="Shape 11"/>
          <p:cNvSpPr/>
          <p:nvPr/>
        </p:nvSpPr>
        <p:spPr>
          <a:xfrm>
            <a:off x="428625" y="2478881"/>
            <a:ext cx="4000500" cy="321469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5" name="Shape 12"/>
          <p:cNvSpPr/>
          <p:nvPr/>
        </p:nvSpPr>
        <p:spPr>
          <a:xfrm>
            <a:off x="428625" y="2478881"/>
            <a:ext cx="35719" cy="321469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16" name="Text 13"/>
          <p:cNvSpPr/>
          <p:nvPr/>
        </p:nvSpPr>
        <p:spPr>
          <a:xfrm>
            <a:off x="428625" y="2478881"/>
            <a:ext cx="4000500" cy="32146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D53F8C"/>
                </a:solidFill>
              </a:rPr>
              <a:t>6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D3748"/>
                </a:solidFill>
              </a:rPr>
              <a:t> payment types</a:t>
            </a:r>
            <a:endParaRPr lang="en-US" sz="683" dirty="0"/>
          </a:p>
        </p:txBody>
      </p:sp>
      <p:sp>
        <p:nvSpPr>
          <p:cNvPr id="17" name="Shape 14"/>
          <p:cNvSpPr/>
          <p:nvPr/>
        </p:nvSpPr>
        <p:spPr>
          <a:xfrm>
            <a:off x="428625" y="2871788"/>
            <a:ext cx="4000500" cy="321469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8" name="Shape 15"/>
          <p:cNvSpPr/>
          <p:nvPr/>
        </p:nvSpPr>
        <p:spPr>
          <a:xfrm>
            <a:off x="428625" y="2871788"/>
            <a:ext cx="35719" cy="321469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19" name="Text 16"/>
          <p:cNvSpPr/>
          <p:nvPr/>
        </p:nvSpPr>
        <p:spPr>
          <a:xfrm>
            <a:off x="428625" y="2871788"/>
            <a:ext cx="4000500" cy="32146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D53F8C"/>
                </a:solidFill>
              </a:rPr>
              <a:t>5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D3748"/>
                </a:solidFill>
              </a:rPr>
              <a:t> approval levels (maximum)</a:t>
            </a:r>
            <a:endParaRPr lang="en-US" sz="683" dirty="0"/>
          </a:p>
        </p:txBody>
      </p:sp>
      <p:sp>
        <p:nvSpPr>
          <p:cNvPr id="20" name="Shape 17"/>
          <p:cNvSpPr/>
          <p:nvPr/>
        </p:nvSpPr>
        <p:spPr>
          <a:xfrm>
            <a:off x="428625" y="3264694"/>
            <a:ext cx="4000500" cy="321469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1" name="Shape 18"/>
          <p:cNvSpPr/>
          <p:nvPr/>
        </p:nvSpPr>
        <p:spPr>
          <a:xfrm>
            <a:off x="428625" y="3264694"/>
            <a:ext cx="35719" cy="321469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22" name="Text 19"/>
          <p:cNvSpPr/>
          <p:nvPr/>
        </p:nvSpPr>
        <p:spPr>
          <a:xfrm>
            <a:off x="428625" y="3264694"/>
            <a:ext cx="4000500" cy="32146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D53F8C"/>
                </a:solidFill>
              </a:rPr>
              <a:t>100+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D3748"/>
                </a:solidFill>
              </a:rPr>
              <a:t> page specification document</a:t>
            </a:r>
            <a:endParaRPr lang="en-US" sz="683" dirty="0"/>
          </a:p>
        </p:txBody>
      </p:sp>
      <p:sp>
        <p:nvSpPr>
          <p:cNvPr id="23" name="Shape 20"/>
          <p:cNvSpPr/>
          <p:nvPr/>
        </p:nvSpPr>
        <p:spPr>
          <a:xfrm>
            <a:off x="428625" y="3657600"/>
            <a:ext cx="4000500" cy="321469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4" name="Shape 21"/>
          <p:cNvSpPr/>
          <p:nvPr/>
        </p:nvSpPr>
        <p:spPr>
          <a:xfrm>
            <a:off x="428625" y="3657600"/>
            <a:ext cx="35719" cy="321469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25" name="Text 22"/>
          <p:cNvSpPr/>
          <p:nvPr/>
        </p:nvSpPr>
        <p:spPr>
          <a:xfrm>
            <a:off x="428625" y="3657600"/>
            <a:ext cx="4000500" cy="32146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D53F8C"/>
                </a:solidFill>
              </a:rPr>
              <a:t>Weeks</a:t>
            </a:r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D3748"/>
                </a:solidFill>
              </a:rPr>
              <a:t> to manually map scenarios</a:t>
            </a:r>
            <a:endParaRPr lang="en-US" sz="683" dirty="0"/>
          </a:p>
        </p:txBody>
      </p:sp>
      <p:sp>
        <p:nvSpPr>
          <p:cNvPr id="26" name="Text 23"/>
          <p:cNvSpPr/>
          <p:nvPr/>
        </p:nvSpPr>
        <p:spPr>
          <a:xfrm>
            <a:off x="428625" y="4157663"/>
            <a:ext cx="4000500" cy="242888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365D"/>
                </a:solidFill>
              </a:rPr>
              <a:t>Key Problem</a:t>
            </a:r>
            <a:endParaRPr lang="en-US" sz="683" dirty="0"/>
          </a:p>
        </p:txBody>
      </p:sp>
      <p:sp>
        <p:nvSpPr>
          <p:cNvPr id="27" name="Shape 24"/>
          <p:cNvSpPr/>
          <p:nvPr/>
        </p:nvSpPr>
        <p:spPr>
          <a:xfrm>
            <a:off x="428625" y="4507706"/>
            <a:ext cx="4000500" cy="982266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8" name="Shape 25"/>
          <p:cNvSpPr/>
          <p:nvPr/>
        </p:nvSpPr>
        <p:spPr>
          <a:xfrm>
            <a:off x="428625" y="4507706"/>
            <a:ext cx="35719" cy="982266"/>
          </a:xfrm>
          <a:prstGeom prst="rect">
            <a:avLst/>
          </a:prstGeom>
          <a:solidFill>
            <a:srgbClr val="D53F8C"/>
          </a:solidFill>
          <a:ln/>
        </p:spPr>
      </p:sp>
      <p:sp>
        <p:nvSpPr>
          <p:cNvPr id="29" name="Text 26"/>
          <p:cNvSpPr/>
          <p:nvPr/>
        </p:nvSpPr>
        <p:spPr>
          <a:xfrm>
            <a:off x="535781" y="4614863"/>
            <a:ext cx="37861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365D"/>
                </a:solidFill>
              </a:rPr>
              <a:t>Each rejection routes differently based on:</a:t>
            </a:r>
            <a:endParaRPr lang="en-US" sz="683" dirty="0"/>
          </a:p>
        </p:txBody>
      </p:sp>
      <p:sp>
        <p:nvSpPr>
          <p:cNvPr id="30" name="Text 27"/>
          <p:cNvSpPr/>
          <p:nvPr/>
        </p:nvSpPr>
        <p:spPr>
          <a:xfrm>
            <a:off x="535781" y="4836319"/>
            <a:ext cx="3786188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Who rejected (Approver 1, 2, 3, 4, or 5)</a:t>
            </a:r>
            <a:endParaRPr lang="en-US" sz="674" dirty="0"/>
          </a:p>
        </p:txBody>
      </p:sp>
      <p:sp>
        <p:nvSpPr>
          <p:cNvPr id="31" name="Text 28"/>
          <p:cNvSpPr/>
          <p:nvPr/>
        </p:nvSpPr>
        <p:spPr>
          <a:xfrm>
            <a:off x="535781" y="5018484"/>
            <a:ext cx="3786188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When in the workflow</a:t>
            </a:r>
            <a:endParaRPr lang="en-US" sz="674" dirty="0"/>
          </a:p>
        </p:txBody>
      </p:sp>
      <p:sp>
        <p:nvSpPr>
          <p:cNvPr id="32" name="Text 29"/>
          <p:cNvSpPr/>
          <p:nvPr/>
        </p:nvSpPr>
        <p:spPr>
          <a:xfrm>
            <a:off x="535781" y="5200650"/>
            <a:ext cx="3786188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Business logic conditions (thresholds, rules)</a:t>
            </a:r>
            <a:endParaRPr lang="en-US" sz="674" dirty="0"/>
          </a:p>
        </p:txBody>
      </p:sp>
      <p:sp>
        <p:nvSpPr>
          <p:cNvPr id="33" name="Text 30"/>
          <p:cNvSpPr/>
          <p:nvPr/>
        </p:nvSpPr>
        <p:spPr>
          <a:xfrm>
            <a:off x="535781" y="4836319"/>
            <a:ext cx="928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D53F8C"/>
                </a:solidFill>
              </a:rPr>
              <a:t>→</a:t>
            </a:r>
            <a:endParaRPr lang="en-US" sz="634" dirty="0"/>
          </a:p>
        </p:txBody>
      </p:sp>
      <p:sp>
        <p:nvSpPr>
          <p:cNvPr id="34" name="Text 31"/>
          <p:cNvSpPr/>
          <p:nvPr/>
        </p:nvSpPr>
        <p:spPr>
          <a:xfrm>
            <a:off x="535781" y="5018484"/>
            <a:ext cx="928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D53F8C"/>
                </a:solidFill>
              </a:rPr>
              <a:t>→</a:t>
            </a:r>
            <a:endParaRPr lang="en-US" sz="634" dirty="0"/>
          </a:p>
        </p:txBody>
      </p:sp>
      <p:sp>
        <p:nvSpPr>
          <p:cNvPr id="35" name="Text 32"/>
          <p:cNvSpPr/>
          <p:nvPr/>
        </p:nvSpPr>
        <p:spPr>
          <a:xfrm>
            <a:off x="535781" y="5200650"/>
            <a:ext cx="928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D53F8C"/>
                </a:solidFill>
              </a:rPr>
              <a:t>→</a:t>
            </a:r>
            <a:endParaRPr lang="en-US" sz="634" dirty="0"/>
          </a:p>
        </p:txBody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75" y="950119"/>
            <a:ext cx="4000500" cy="2286000"/>
          </a:xfrm>
          <a:prstGeom prst="rect">
            <a:avLst/>
          </a:prstGeom>
        </p:spPr>
      </p:pic>
      <p:sp>
        <p:nvSpPr>
          <p:cNvPr id="37" name="Shape 33"/>
          <p:cNvSpPr/>
          <p:nvPr/>
        </p:nvSpPr>
        <p:spPr>
          <a:xfrm>
            <a:off x="4714875" y="3378994"/>
            <a:ext cx="4000500" cy="1125141"/>
          </a:xfrm>
          <a:prstGeom prst="rect">
            <a:avLst/>
          </a:prstGeom>
          <a:solidFill>
            <a:srgbClr val="FEF5E7"/>
          </a:solidFill>
          <a:ln/>
        </p:spPr>
      </p:sp>
      <p:sp>
        <p:nvSpPr>
          <p:cNvPr id="38" name="Shape 34"/>
          <p:cNvSpPr/>
          <p:nvPr/>
        </p:nvSpPr>
        <p:spPr>
          <a:xfrm>
            <a:off x="4714875" y="3378994"/>
            <a:ext cx="35719" cy="1125141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39" name="Text 35"/>
          <p:cNvSpPr/>
          <p:nvPr/>
        </p:nvSpPr>
        <p:spPr>
          <a:xfrm>
            <a:off x="4822031" y="3486150"/>
            <a:ext cx="378618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65D"/>
                </a:solidFill>
              </a:rPr>
              <a:t>Human Limitations</a:t>
            </a:r>
            <a:endParaRPr lang="en-US" sz="634" dirty="0"/>
          </a:p>
        </p:txBody>
      </p:sp>
      <p:sp>
        <p:nvSpPr>
          <p:cNvPr id="40" name="Text 36"/>
          <p:cNvSpPr/>
          <p:nvPr/>
        </p:nvSpPr>
        <p:spPr>
          <a:xfrm>
            <a:off x="4822031" y="3696891"/>
            <a:ext cx="3786188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Impossible to track all permutations</a:t>
            </a:r>
            <a:endParaRPr lang="en-US" sz="674" dirty="0"/>
          </a:p>
        </p:txBody>
      </p:sp>
      <p:sp>
        <p:nvSpPr>
          <p:cNvPr id="41" name="Text 37"/>
          <p:cNvSpPr/>
          <p:nvPr/>
        </p:nvSpPr>
        <p:spPr>
          <a:xfrm>
            <a:off x="4822031" y="3871913"/>
            <a:ext cx="3786188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High risk of missed edge cases</a:t>
            </a:r>
            <a:endParaRPr lang="en-US" sz="674" dirty="0"/>
          </a:p>
        </p:txBody>
      </p:sp>
      <p:sp>
        <p:nvSpPr>
          <p:cNvPr id="42" name="Text 38"/>
          <p:cNvSpPr/>
          <p:nvPr/>
        </p:nvSpPr>
        <p:spPr>
          <a:xfrm>
            <a:off x="4822031" y="4046934"/>
            <a:ext cx="3786188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Documentation scattered &amp; inconsistent</a:t>
            </a:r>
            <a:endParaRPr lang="en-US" sz="674" dirty="0"/>
          </a:p>
        </p:txBody>
      </p:sp>
      <p:sp>
        <p:nvSpPr>
          <p:cNvPr id="43" name="Text 39"/>
          <p:cNvSpPr/>
          <p:nvPr/>
        </p:nvSpPr>
        <p:spPr>
          <a:xfrm>
            <a:off x="4822031" y="4221956"/>
            <a:ext cx="3786188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Changes require remapping everything</a:t>
            </a:r>
            <a:endParaRPr lang="en-US" sz="674" dirty="0"/>
          </a:p>
        </p:txBody>
      </p:sp>
      <p:sp>
        <p:nvSpPr>
          <p:cNvPr id="44" name="Text 40"/>
          <p:cNvSpPr/>
          <p:nvPr/>
        </p:nvSpPr>
        <p:spPr>
          <a:xfrm>
            <a:off x="4822031" y="3696891"/>
            <a:ext cx="928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53F8C"/>
                </a:solidFill>
              </a:rPr>
              <a:t>⚠</a:t>
            </a:r>
            <a:endParaRPr lang="en-US" sz="674" dirty="0"/>
          </a:p>
        </p:txBody>
      </p:sp>
      <p:sp>
        <p:nvSpPr>
          <p:cNvPr id="45" name="Text 41"/>
          <p:cNvSpPr/>
          <p:nvPr/>
        </p:nvSpPr>
        <p:spPr>
          <a:xfrm>
            <a:off x="4822031" y="3871913"/>
            <a:ext cx="928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53F8C"/>
                </a:solidFill>
              </a:rPr>
              <a:t>⚠</a:t>
            </a:r>
            <a:endParaRPr lang="en-US" sz="674" dirty="0"/>
          </a:p>
        </p:txBody>
      </p:sp>
      <p:sp>
        <p:nvSpPr>
          <p:cNvPr id="46" name="Text 42"/>
          <p:cNvSpPr/>
          <p:nvPr/>
        </p:nvSpPr>
        <p:spPr>
          <a:xfrm>
            <a:off x="4822031" y="4046934"/>
            <a:ext cx="928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53F8C"/>
                </a:solidFill>
              </a:rPr>
              <a:t>⚠</a:t>
            </a:r>
            <a:endParaRPr lang="en-US" sz="674" dirty="0"/>
          </a:p>
        </p:txBody>
      </p:sp>
      <p:sp>
        <p:nvSpPr>
          <p:cNvPr id="47" name="Text 43"/>
          <p:cNvSpPr/>
          <p:nvPr/>
        </p:nvSpPr>
        <p:spPr>
          <a:xfrm>
            <a:off x="4822031" y="4221956"/>
            <a:ext cx="928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D53F8C"/>
                </a:solidFill>
              </a:rPr>
              <a:t>⚠</a:t>
            </a:r>
            <a:endParaRPr lang="en-US" sz="67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8632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1A365D"/>
                </a:solidFill>
              </a:rPr>
              <a:t>The AI Solution - Mapping Phase: Using AI to Map Every Possible Path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1559709" y="985838"/>
            <a:ext cx="357188" cy="357188"/>
          </a:xfrm>
          <a:prstGeom prst="ellipse">
            <a:avLst/>
          </a:prstGeom>
          <a:solidFill>
            <a:srgbClr val="D53F8C"/>
          </a:solidFill>
          <a:ln/>
        </p:spPr>
      </p:sp>
      <p:sp>
        <p:nvSpPr>
          <p:cNvPr id="5" name="Text 2"/>
          <p:cNvSpPr/>
          <p:nvPr/>
        </p:nvSpPr>
        <p:spPr>
          <a:xfrm>
            <a:off x="1559709" y="985838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1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428625" y="1450181"/>
            <a:ext cx="2619384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365D"/>
                </a:solidFill>
              </a:rPr>
              <a:t>Fed Claude AI</a:t>
            </a:r>
            <a:pPr algn="ctr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365D"/>
                </a:solidFill>
              </a:rPr>
              <a:t>
</a:t>
            </a:r>
            <a:pPr algn="ctr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365D"/>
                </a:solidFill>
              </a:rPr>
              <a:t>the Requirements</a:t>
            </a:r>
            <a:endParaRPr lang="en-US" sz="683" dirty="0"/>
          </a:p>
        </p:txBody>
      </p:sp>
      <p:sp>
        <p:nvSpPr>
          <p:cNvPr id="7" name="Shape 4"/>
          <p:cNvSpPr/>
          <p:nvPr/>
        </p:nvSpPr>
        <p:spPr>
          <a:xfrm>
            <a:off x="428625" y="1835944"/>
            <a:ext cx="2619384" cy="788603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8" name="Shape 5"/>
          <p:cNvSpPr/>
          <p:nvPr/>
        </p:nvSpPr>
        <p:spPr>
          <a:xfrm>
            <a:off x="428625" y="1835944"/>
            <a:ext cx="28575" cy="788603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9" name="Text 6"/>
          <p:cNvSpPr/>
          <p:nvPr/>
        </p:nvSpPr>
        <p:spPr>
          <a:xfrm>
            <a:off x="578644" y="1943100"/>
            <a:ext cx="34909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D53F8C"/>
                </a:solidFill>
              </a:rPr>
              <a:t>•</a:t>
            </a:r>
            <a:endParaRPr lang="en-US" sz="634" dirty="0"/>
          </a:p>
        </p:txBody>
      </p:sp>
      <p:sp>
        <p:nvSpPr>
          <p:cNvPr id="10" name="Text 7"/>
          <p:cNvSpPr/>
          <p:nvPr/>
        </p:nvSpPr>
        <p:spPr>
          <a:xfrm>
            <a:off x="664369" y="1953816"/>
            <a:ext cx="189610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100+ page Solution Specification Document</a:t>
            </a:r>
            <a:endParaRPr lang="en-US" sz="674" dirty="0"/>
          </a:p>
        </p:txBody>
      </p:sp>
      <p:sp>
        <p:nvSpPr>
          <p:cNvPr id="11" name="Text 8"/>
          <p:cNvSpPr/>
          <p:nvPr/>
        </p:nvSpPr>
        <p:spPr>
          <a:xfrm>
            <a:off x="578644" y="2134530"/>
            <a:ext cx="34909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D53F8C"/>
                </a:solidFill>
              </a:rPr>
              <a:t>•</a:t>
            </a:r>
            <a:endParaRPr lang="en-US" sz="634" dirty="0"/>
          </a:p>
        </p:txBody>
      </p:sp>
      <p:sp>
        <p:nvSpPr>
          <p:cNvPr id="12" name="Text 9"/>
          <p:cNvSpPr/>
          <p:nvPr/>
        </p:nvSpPr>
        <p:spPr>
          <a:xfrm>
            <a:off x="664369" y="2145246"/>
            <a:ext cx="190383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Excel files with approval logic (merged cells)</a:t>
            </a:r>
            <a:endParaRPr lang="en-US" sz="674" dirty="0"/>
          </a:p>
        </p:txBody>
      </p:sp>
      <p:sp>
        <p:nvSpPr>
          <p:cNvPr id="13" name="Text 10"/>
          <p:cNvSpPr/>
          <p:nvPr/>
        </p:nvSpPr>
        <p:spPr>
          <a:xfrm>
            <a:off x="578644" y="2325960"/>
            <a:ext cx="34909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D53F8C"/>
                </a:solidFill>
              </a:rPr>
              <a:t>•</a:t>
            </a:r>
            <a:endParaRPr lang="en-US" sz="634" dirty="0"/>
          </a:p>
        </p:txBody>
      </p:sp>
      <p:sp>
        <p:nvSpPr>
          <p:cNvPr id="14" name="Text 11"/>
          <p:cNvSpPr/>
          <p:nvPr/>
        </p:nvSpPr>
        <p:spPr>
          <a:xfrm>
            <a:off x="664369" y="2336676"/>
            <a:ext cx="129533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Business rules and conditions</a:t>
            </a:r>
            <a:endParaRPr lang="en-US" sz="674" dirty="0"/>
          </a:p>
        </p:txBody>
      </p:sp>
      <p:sp>
        <p:nvSpPr>
          <p:cNvPr id="15" name="Shape 12"/>
          <p:cNvSpPr/>
          <p:nvPr/>
        </p:nvSpPr>
        <p:spPr>
          <a:xfrm>
            <a:off x="4393406" y="985838"/>
            <a:ext cx="357188" cy="357188"/>
          </a:xfrm>
          <a:prstGeom prst="ellipse">
            <a:avLst/>
          </a:prstGeom>
          <a:solidFill>
            <a:srgbClr val="D53F8C"/>
          </a:solidFill>
          <a:ln/>
        </p:spPr>
      </p:sp>
      <p:sp>
        <p:nvSpPr>
          <p:cNvPr id="16" name="Text 13"/>
          <p:cNvSpPr/>
          <p:nvPr/>
        </p:nvSpPr>
        <p:spPr>
          <a:xfrm>
            <a:off x="4393406" y="985838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2</a:t>
            </a:r>
            <a:endParaRPr lang="en-US" sz="1193" dirty="0"/>
          </a:p>
        </p:txBody>
      </p:sp>
      <p:sp>
        <p:nvSpPr>
          <p:cNvPr id="17" name="Text 14"/>
          <p:cNvSpPr/>
          <p:nvPr/>
        </p:nvSpPr>
        <p:spPr>
          <a:xfrm>
            <a:off x="3262322" y="1450181"/>
            <a:ext cx="2619384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365D"/>
                </a:solidFill>
              </a:rPr>
              <a:t>AI Extracted</a:t>
            </a:r>
            <a:pPr algn="ctr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365D"/>
                </a:solidFill>
              </a:rPr>
              <a:t>
</a:t>
            </a:r>
            <a:pPr algn="ctr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365D"/>
                </a:solidFill>
              </a:rPr>
              <a:t>All Patterns</a:t>
            </a:r>
            <a:endParaRPr lang="en-US" sz="683" dirty="0"/>
          </a:p>
        </p:txBody>
      </p:sp>
      <p:sp>
        <p:nvSpPr>
          <p:cNvPr id="18" name="Shape 15"/>
          <p:cNvSpPr/>
          <p:nvPr/>
        </p:nvSpPr>
        <p:spPr>
          <a:xfrm>
            <a:off x="3262322" y="1835944"/>
            <a:ext cx="2619384" cy="788603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9" name="Shape 16"/>
          <p:cNvSpPr/>
          <p:nvPr/>
        </p:nvSpPr>
        <p:spPr>
          <a:xfrm>
            <a:off x="3262322" y="1835944"/>
            <a:ext cx="28575" cy="788603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20" name="Text 17"/>
          <p:cNvSpPr/>
          <p:nvPr/>
        </p:nvSpPr>
        <p:spPr>
          <a:xfrm>
            <a:off x="3412341" y="1943100"/>
            <a:ext cx="34909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D53F8C"/>
                </a:solidFill>
              </a:rPr>
              <a:t>•</a:t>
            </a:r>
            <a:endParaRPr lang="en-US" sz="634" dirty="0"/>
          </a:p>
        </p:txBody>
      </p:sp>
      <p:sp>
        <p:nvSpPr>
          <p:cNvPr id="21" name="Text 18"/>
          <p:cNvSpPr/>
          <p:nvPr/>
        </p:nvSpPr>
        <p:spPr>
          <a:xfrm>
            <a:off x="3498066" y="1953816"/>
            <a:ext cx="196280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Identified 61 unique workflow configurations</a:t>
            </a:r>
            <a:endParaRPr lang="en-US" sz="674" dirty="0"/>
          </a:p>
        </p:txBody>
      </p:sp>
      <p:sp>
        <p:nvSpPr>
          <p:cNvPr id="22" name="Text 19"/>
          <p:cNvSpPr/>
          <p:nvPr/>
        </p:nvSpPr>
        <p:spPr>
          <a:xfrm>
            <a:off x="3412341" y="2134530"/>
            <a:ext cx="34909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D53F8C"/>
                </a:solidFill>
              </a:rPr>
              <a:t>•</a:t>
            </a:r>
            <a:endParaRPr lang="en-US" sz="634" dirty="0"/>
          </a:p>
        </p:txBody>
      </p:sp>
      <p:sp>
        <p:nvSpPr>
          <p:cNvPr id="23" name="Text 20"/>
          <p:cNvSpPr/>
          <p:nvPr/>
        </p:nvSpPr>
        <p:spPr>
          <a:xfrm>
            <a:off x="3498066" y="2145246"/>
            <a:ext cx="149296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Mapped complex conditional logic</a:t>
            </a:r>
            <a:endParaRPr lang="en-US" sz="674" dirty="0"/>
          </a:p>
        </p:txBody>
      </p:sp>
      <p:sp>
        <p:nvSpPr>
          <p:cNvPr id="24" name="Text 21"/>
          <p:cNvSpPr/>
          <p:nvPr/>
        </p:nvSpPr>
        <p:spPr>
          <a:xfrm>
            <a:off x="3412341" y="2325960"/>
            <a:ext cx="34909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D53F8C"/>
                </a:solidFill>
              </a:rPr>
              <a:t>•</a:t>
            </a:r>
            <a:endParaRPr lang="en-US" sz="634" dirty="0"/>
          </a:p>
        </p:txBody>
      </p:sp>
      <p:sp>
        <p:nvSpPr>
          <p:cNvPr id="25" name="Text 22"/>
          <p:cNvSpPr/>
          <p:nvPr/>
        </p:nvSpPr>
        <p:spPr>
          <a:xfrm>
            <a:off x="3498066" y="2336676"/>
            <a:ext cx="216804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Handled merged Excel cells (standard tools failed)</a:t>
            </a:r>
            <a:endParaRPr lang="en-US" sz="674" dirty="0"/>
          </a:p>
        </p:txBody>
      </p:sp>
      <p:sp>
        <p:nvSpPr>
          <p:cNvPr id="26" name="Shape 23"/>
          <p:cNvSpPr/>
          <p:nvPr/>
        </p:nvSpPr>
        <p:spPr>
          <a:xfrm>
            <a:off x="7227103" y="985838"/>
            <a:ext cx="357188" cy="357188"/>
          </a:xfrm>
          <a:prstGeom prst="ellipse">
            <a:avLst/>
          </a:prstGeom>
          <a:solidFill>
            <a:srgbClr val="D53F8C"/>
          </a:solidFill>
          <a:ln/>
        </p:spPr>
      </p:sp>
      <p:sp>
        <p:nvSpPr>
          <p:cNvPr id="27" name="Text 24"/>
          <p:cNvSpPr/>
          <p:nvPr/>
        </p:nvSpPr>
        <p:spPr>
          <a:xfrm>
            <a:off x="7227103" y="985838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3</a:t>
            </a:r>
            <a:endParaRPr lang="en-US" sz="1193" dirty="0"/>
          </a:p>
        </p:txBody>
      </p:sp>
      <p:sp>
        <p:nvSpPr>
          <p:cNvPr id="28" name="Text 25"/>
          <p:cNvSpPr/>
          <p:nvPr/>
        </p:nvSpPr>
        <p:spPr>
          <a:xfrm>
            <a:off x="6096019" y="1450181"/>
            <a:ext cx="2619384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365D"/>
                </a:solidFill>
              </a:rPr>
              <a:t>AI Generated</a:t>
            </a:r>
            <a:pPr algn="ctr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365D"/>
                </a:solidFill>
              </a:rPr>
              <a:t>
</a:t>
            </a:r>
            <a:pPr algn="ctr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365D"/>
                </a:solidFill>
              </a:rPr>
              <a:t>Comprehensive Scenarios</a:t>
            </a:r>
            <a:endParaRPr lang="en-US" sz="683" dirty="0"/>
          </a:p>
        </p:txBody>
      </p:sp>
      <p:sp>
        <p:nvSpPr>
          <p:cNvPr id="29" name="Shape 26"/>
          <p:cNvSpPr/>
          <p:nvPr/>
        </p:nvSpPr>
        <p:spPr>
          <a:xfrm>
            <a:off x="6096019" y="1835944"/>
            <a:ext cx="2619384" cy="980033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0" name="Shape 27"/>
          <p:cNvSpPr/>
          <p:nvPr/>
        </p:nvSpPr>
        <p:spPr>
          <a:xfrm>
            <a:off x="6096019" y="1835944"/>
            <a:ext cx="28575" cy="980033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31" name="Text 28"/>
          <p:cNvSpPr/>
          <p:nvPr/>
        </p:nvSpPr>
        <p:spPr>
          <a:xfrm>
            <a:off x="6246037" y="1943100"/>
            <a:ext cx="34909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D53F8C"/>
                </a:solidFill>
              </a:rPr>
              <a:t>•</a:t>
            </a:r>
            <a:endParaRPr lang="en-US" sz="634" dirty="0"/>
          </a:p>
        </p:txBody>
      </p:sp>
      <p:sp>
        <p:nvSpPr>
          <p:cNvPr id="32" name="Text 29"/>
          <p:cNvSpPr/>
          <p:nvPr/>
        </p:nvSpPr>
        <p:spPr>
          <a:xfrm>
            <a:off x="6331762" y="1953816"/>
            <a:ext cx="164091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276 complete rejection flow scenarios</a:t>
            </a:r>
            <a:endParaRPr lang="en-US" sz="674" dirty="0"/>
          </a:p>
        </p:txBody>
      </p:sp>
      <p:sp>
        <p:nvSpPr>
          <p:cNvPr id="33" name="Text 30"/>
          <p:cNvSpPr/>
          <p:nvPr/>
        </p:nvSpPr>
        <p:spPr>
          <a:xfrm>
            <a:off x="6246037" y="2134530"/>
            <a:ext cx="34909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D53F8C"/>
                </a:solidFill>
              </a:rPr>
              <a:t>•</a:t>
            </a:r>
            <a:endParaRPr lang="en-US" sz="634" dirty="0"/>
          </a:p>
        </p:txBody>
      </p:sp>
      <p:sp>
        <p:nvSpPr>
          <p:cNvPr id="34" name="Text 31"/>
          <p:cNvSpPr/>
          <p:nvPr/>
        </p:nvSpPr>
        <p:spPr>
          <a:xfrm>
            <a:off x="6331762" y="2145246"/>
            <a:ext cx="157385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Happy paths (all approvers approve)</a:t>
            </a:r>
            <a:endParaRPr lang="en-US" sz="674" dirty="0"/>
          </a:p>
        </p:txBody>
      </p:sp>
      <p:sp>
        <p:nvSpPr>
          <p:cNvPr id="35" name="Text 32"/>
          <p:cNvSpPr/>
          <p:nvPr/>
        </p:nvSpPr>
        <p:spPr>
          <a:xfrm>
            <a:off x="6246037" y="2325960"/>
            <a:ext cx="34909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D53F8C"/>
                </a:solidFill>
              </a:rPr>
              <a:t>•</a:t>
            </a:r>
            <a:endParaRPr lang="en-US" sz="634" dirty="0"/>
          </a:p>
        </p:txBody>
      </p:sp>
      <p:sp>
        <p:nvSpPr>
          <p:cNvPr id="36" name="Text 33"/>
          <p:cNvSpPr/>
          <p:nvPr/>
        </p:nvSpPr>
        <p:spPr>
          <a:xfrm>
            <a:off x="6331762" y="2336676"/>
            <a:ext cx="116236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App 1+ rejection variations</a:t>
            </a:r>
            <a:endParaRPr lang="en-US" sz="674" dirty="0"/>
          </a:p>
        </p:txBody>
      </p:sp>
      <p:sp>
        <p:nvSpPr>
          <p:cNvPr id="37" name="Text 34"/>
          <p:cNvSpPr/>
          <p:nvPr/>
        </p:nvSpPr>
        <p:spPr>
          <a:xfrm>
            <a:off x="6246037" y="2517391"/>
            <a:ext cx="34909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D53F8C"/>
                </a:solidFill>
              </a:rPr>
              <a:t>•</a:t>
            </a:r>
            <a:endParaRPr lang="en-US" sz="634" dirty="0"/>
          </a:p>
        </p:txBody>
      </p:sp>
      <p:sp>
        <p:nvSpPr>
          <p:cNvPr id="38" name="Text 35"/>
          <p:cNvSpPr/>
          <p:nvPr/>
        </p:nvSpPr>
        <p:spPr>
          <a:xfrm>
            <a:off x="6331762" y="2528106"/>
            <a:ext cx="125791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Re-approval &amp; multiple loops</a:t>
            </a:r>
            <a:endParaRPr lang="en-US" sz="674" dirty="0"/>
          </a:p>
        </p:txBody>
      </p:sp>
      <p:sp>
        <p:nvSpPr>
          <p:cNvPr id="39" name="Shape 36"/>
          <p:cNvSpPr/>
          <p:nvPr/>
        </p:nvSpPr>
        <p:spPr>
          <a:xfrm>
            <a:off x="428625" y="3316039"/>
            <a:ext cx="8286750" cy="2113099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0" name="Shape 37"/>
          <p:cNvSpPr/>
          <p:nvPr/>
        </p:nvSpPr>
        <p:spPr>
          <a:xfrm>
            <a:off x="428625" y="3316039"/>
            <a:ext cx="42863" cy="2113099"/>
          </a:xfrm>
          <a:prstGeom prst="rect">
            <a:avLst/>
          </a:prstGeom>
          <a:solidFill>
            <a:srgbClr val="D53F8C"/>
          </a:solidFill>
          <a:ln/>
        </p:spPr>
      </p:sp>
      <p:sp>
        <p:nvSpPr>
          <p:cNvPr id="41" name="Text 38"/>
          <p:cNvSpPr/>
          <p:nvPr/>
        </p:nvSpPr>
        <p:spPr>
          <a:xfrm>
            <a:off x="607219" y="3494633"/>
            <a:ext cx="7929563" cy="235744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365D"/>
                </a:solidFill>
              </a:rPr>
              <a:t>Output: Dynamic Excel Workbook</a:t>
            </a:r>
            <a:endParaRPr lang="en-US" sz="683" dirty="0"/>
          </a:p>
        </p:txBody>
      </p:sp>
      <p:sp>
        <p:nvSpPr>
          <p:cNvPr id="42" name="Text 39"/>
          <p:cNvSpPr/>
          <p:nvPr/>
        </p:nvSpPr>
        <p:spPr>
          <a:xfrm>
            <a:off x="607219" y="3858964"/>
            <a:ext cx="3893344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D53F8C"/>
                </a:solidFill>
              </a:rPr>
              <a:t>5 Tabs: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 Quick Reference, Summary, Logic, Instructions, All Scenarios</a:t>
            </a:r>
            <a:endParaRPr lang="en-US" sz="634" dirty="0"/>
          </a:p>
        </p:txBody>
      </p:sp>
      <p:sp>
        <p:nvSpPr>
          <p:cNvPr id="43" name="Text 40"/>
          <p:cNvSpPr/>
          <p:nvPr/>
        </p:nvSpPr>
        <p:spPr>
          <a:xfrm>
            <a:off x="4643438" y="3858964"/>
            <a:ext cx="3893344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D53F8C"/>
                </a:solidFill>
              </a:rPr>
              <a:t>Auto-Updating Formulas:</a:t>
            </a:r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 Dynamic calculations for scenario tracking and validation</a:t>
            </a:r>
            <a:endParaRPr lang="en-US" sz="634" dirty="0"/>
          </a:p>
        </p:txBody>
      </p:sp>
      <p:sp>
        <p:nvSpPr>
          <p:cNvPr id="44" name="Text 41"/>
          <p:cNvSpPr/>
          <p:nvPr/>
        </p:nvSpPr>
        <p:spPr>
          <a:xfrm>
            <a:off x="607219" y="4228988"/>
            <a:ext cx="792956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365D"/>
                </a:solidFill>
              </a:rPr>
              <a:t>Color-Coded Scenarios</a:t>
            </a:r>
            <a:endParaRPr lang="en-US" sz="584" dirty="0"/>
          </a:p>
        </p:txBody>
      </p:sp>
      <p:sp>
        <p:nvSpPr>
          <p:cNvPr id="45" name="Text 42"/>
          <p:cNvSpPr/>
          <p:nvPr/>
        </p:nvSpPr>
        <p:spPr>
          <a:xfrm>
            <a:off x="750094" y="4434371"/>
            <a:ext cx="175027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Green = Happy Path (all approvers approve)</a:t>
            </a:r>
            <a:endParaRPr lang="en-US" sz="621" dirty="0"/>
          </a:p>
        </p:txBody>
      </p:sp>
      <p:sp>
        <p:nvSpPr>
          <p:cNvPr id="46" name="Text 43"/>
          <p:cNvSpPr/>
          <p:nvPr/>
        </p:nvSpPr>
        <p:spPr>
          <a:xfrm>
            <a:off x="750094" y="4598677"/>
            <a:ext cx="206616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Red = Delete (App 1 rejection = immediate deletion)</a:t>
            </a:r>
            <a:endParaRPr lang="en-US" sz="621" dirty="0"/>
          </a:p>
        </p:txBody>
      </p:sp>
      <p:sp>
        <p:nvSpPr>
          <p:cNvPr id="47" name="Text 44"/>
          <p:cNvSpPr/>
          <p:nvPr/>
        </p:nvSpPr>
        <p:spPr>
          <a:xfrm>
            <a:off x="750094" y="4762984"/>
            <a:ext cx="215626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Yellow = Reject (App 2+ rejection = sent back to App 1)</a:t>
            </a:r>
            <a:endParaRPr lang="en-US" sz="621" dirty="0"/>
          </a:p>
        </p:txBody>
      </p:sp>
      <p:sp>
        <p:nvSpPr>
          <p:cNvPr id="48" name="Text 45"/>
          <p:cNvSpPr/>
          <p:nvPr/>
        </p:nvSpPr>
        <p:spPr>
          <a:xfrm>
            <a:off x="750094" y="4927290"/>
            <a:ext cx="157564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Blue = Recovery (re-approval scenarios)</a:t>
            </a:r>
            <a:endParaRPr lang="en-US" sz="621" dirty="0"/>
          </a:p>
        </p:txBody>
      </p:sp>
      <p:sp>
        <p:nvSpPr>
          <p:cNvPr id="49" name="Text 46"/>
          <p:cNvSpPr/>
          <p:nvPr/>
        </p:nvSpPr>
        <p:spPr>
          <a:xfrm>
            <a:off x="750094" y="5091596"/>
            <a:ext cx="170174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White = Complex (multiple rejection loops)</a:t>
            </a:r>
            <a:endParaRPr lang="en-US" sz="62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969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1A365D"/>
                </a:solidFill>
              </a:rPr>
              <a:t>The AI Solution - Automation Phase: Turning Maps into Automated Tests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950119"/>
            <a:ext cx="2595553" cy="23217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65D"/>
                </a:solidFill>
              </a:rPr>
              <a:t>AI-Generated Test Automation</a:t>
            </a:r>
            <a:endParaRPr lang="en-US" sz="634" dirty="0"/>
          </a:p>
        </p:txBody>
      </p:sp>
      <p:sp>
        <p:nvSpPr>
          <p:cNvPr id="5" name="Shape 2"/>
          <p:cNvSpPr/>
          <p:nvPr/>
        </p:nvSpPr>
        <p:spPr>
          <a:xfrm>
            <a:off x="428625" y="1289447"/>
            <a:ext cx="2595553" cy="51435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1289447"/>
            <a:ext cx="35719" cy="514350"/>
          </a:xfrm>
          <a:prstGeom prst="rect">
            <a:avLst/>
          </a:prstGeom>
          <a:solidFill>
            <a:srgbClr val="D53F8C"/>
          </a:solidFill>
          <a:ln/>
        </p:spPr>
      </p:sp>
      <p:sp>
        <p:nvSpPr>
          <p:cNvPr id="7" name="Text 4"/>
          <p:cNvSpPr/>
          <p:nvPr/>
        </p:nvSpPr>
        <p:spPr>
          <a:xfrm>
            <a:off x="535781" y="1396603"/>
            <a:ext cx="533074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D53F8C"/>
                </a:solidFill>
              </a:rPr>
              <a:t>~4.7K</a:t>
            </a:r>
            <a:endParaRPr lang="en-US" sz="1397" dirty="0"/>
          </a:p>
        </p:txBody>
      </p:sp>
      <p:sp>
        <p:nvSpPr>
          <p:cNvPr id="8" name="Text 5"/>
          <p:cNvSpPr/>
          <p:nvPr/>
        </p:nvSpPr>
        <p:spPr>
          <a:xfrm>
            <a:off x="1154581" y="1481603"/>
            <a:ext cx="1735178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Lines of production-quality Python code</a:t>
            </a:r>
            <a:endParaRPr lang="en-US" sz="674" dirty="0"/>
          </a:p>
        </p:txBody>
      </p:sp>
      <p:sp>
        <p:nvSpPr>
          <p:cNvPr id="9" name="Shape 6"/>
          <p:cNvSpPr/>
          <p:nvPr/>
        </p:nvSpPr>
        <p:spPr>
          <a:xfrm>
            <a:off x="428625" y="1889522"/>
            <a:ext cx="2595553" cy="51435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0" name="Shape 7"/>
          <p:cNvSpPr/>
          <p:nvPr/>
        </p:nvSpPr>
        <p:spPr>
          <a:xfrm>
            <a:off x="428625" y="1889522"/>
            <a:ext cx="35719" cy="514350"/>
          </a:xfrm>
          <a:prstGeom prst="rect">
            <a:avLst/>
          </a:prstGeom>
          <a:solidFill>
            <a:srgbClr val="D53F8C"/>
          </a:solidFill>
          <a:ln/>
        </p:spPr>
      </p:sp>
      <p:sp>
        <p:nvSpPr>
          <p:cNvPr id="11" name="Text 8"/>
          <p:cNvSpPr/>
          <p:nvPr/>
        </p:nvSpPr>
        <p:spPr>
          <a:xfrm>
            <a:off x="535781" y="1996678"/>
            <a:ext cx="35718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D53F8C"/>
                </a:solidFill>
              </a:rPr>
              <a:t>112</a:t>
            </a:r>
            <a:endParaRPr lang="en-US" sz="1397" dirty="0"/>
          </a:p>
        </p:txBody>
      </p:sp>
      <p:sp>
        <p:nvSpPr>
          <p:cNvPr id="12" name="Text 9"/>
          <p:cNvSpPr/>
          <p:nvPr/>
        </p:nvSpPr>
        <p:spPr>
          <a:xfrm>
            <a:off x="978694" y="2081678"/>
            <a:ext cx="1291344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Automated test cases created</a:t>
            </a:r>
            <a:endParaRPr lang="en-US" sz="674" dirty="0"/>
          </a:p>
        </p:txBody>
      </p:sp>
      <p:sp>
        <p:nvSpPr>
          <p:cNvPr id="13" name="Shape 10"/>
          <p:cNvSpPr/>
          <p:nvPr/>
        </p:nvSpPr>
        <p:spPr>
          <a:xfrm>
            <a:off x="428625" y="2489597"/>
            <a:ext cx="2595553" cy="51435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4" name="Shape 11"/>
          <p:cNvSpPr/>
          <p:nvPr/>
        </p:nvSpPr>
        <p:spPr>
          <a:xfrm>
            <a:off x="428625" y="2489597"/>
            <a:ext cx="35719" cy="514350"/>
          </a:xfrm>
          <a:prstGeom prst="rect">
            <a:avLst/>
          </a:prstGeom>
          <a:solidFill>
            <a:srgbClr val="D53F8C"/>
          </a:solidFill>
          <a:ln/>
        </p:spPr>
      </p:sp>
      <p:sp>
        <p:nvSpPr>
          <p:cNvPr id="15" name="Text 12"/>
          <p:cNvSpPr/>
          <p:nvPr/>
        </p:nvSpPr>
        <p:spPr>
          <a:xfrm>
            <a:off x="535781" y="2596753"/>
            <a:ext cx="35718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D53F8C"/>
                </a:solidFill>
              </a:rPr>
              <a:t>6/6</a:t>
            </a:r>
            <a:endParaRPr lang="en-US" sz="1397" dirty="0"/>
          </a:p>
        </p:txBody>
      </p:sp>
      <p:sp>
        <p:nvSpPr>
          <p:cNvPr id="16" name="Text 13"/>
          <p:cNvSpPr/>
          <p:nvPr/>
        </p:nvSpPr>
        <p:spPr>
          <a:xfrm>
            <a:off x="978694" y="2681753"/>
            <a:ext cx="1122601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Payment types supported</a:t>
            </a:r>
            <a:endParaRPr lang="en-US" sz="674" dirty="0"/>
          </a:p>
        </p:txBody>
      </p:sp>
      <p:sp>
        <p:nvSpPr>
          <p:cNvPr id="17" name="Shape 14"/>
          <p:cNvSpPr/>
          <p:nvPr/>
        </p:nvSpPr>
        <p:spPr>
          <a:xfrm>
            <a:off x="428625" y="3161109"/>
            <a:ext cx="2595553" cy="310753"/>
          </a:xfrm>
          <a:prstGeom prst="rect">
            <a:avLst/>
          </a:prstGeom>
          <a:solidFill>
            <a:srgbClr val="FEF5E7"/>
          </a:solidFill>
          <a:ln/>
        </p:spPr>
      </p:sp>
      <p:sp>
        <p:nvSpPr>
          <p:cNvPr id="18" name="Shape 15"/>
          <p:cNvSpPr/>
          <p:nvPr/>
        </p:nvSpPr>
        <p:spPr>
          <a:xfrm>
            <a:off x="428625" y="3161109"/>
            <a:ext cx="35719" cy="310753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19" name="Text 16"/>
          <p:cNvSpPr/>
          <p:nvPr/>
        </p:nvSpPr>
        <p:spPr>
          <a:xfrm>
            <a:off x="535781" y="3246834"/>
            <a:ext cx="238124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2D3748"/>
                </a:solidFill>
              </a:rPr>
              <a:t>Modular, maintainable architecture</a:t>
            </a:r>
            <a:endParaRPr lang="en-US" sz="634" dirty="0"/>
          </a:p>
        </p:txBody>
      </p:sp>
      <p:sp>
        <p:nvSpPr>
          <p:cNvPr id="20" name="Text 17"/>
          <p:cNvSpPr/>
          <p:nvPr/>
        </p:nvSpPr>
        <p:spPr>
          <a:xfrm>
            <a:off x="3274209" y="950119"/>
            <a:ext cx="2595553" cy="23217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65D"/>
                </a:solidFill>
              </a:rPr>
              <a:t>Advanced Features Implemented</a:t>
            </a:r>
            <a:endParaRPr lang="en-US" sz="634" dirty="0"/>
          </a:p>
        </p:txBody>
      </p:sp>
      <p:sp>
        <p:nvSpPr>
          <p:cNvPr id="21" name="Shape 18"/>
          <p:cNvSpPr/>
          <p:nvPr/>
        </p:nvSpPr>
        <p:spPr>
          <a:xfrm>
            <a:off x="3274209" y="1289447"/>
            <a:ext cx="2595553" cy="464316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2" name="Shape 19"/>
          <p:cNvSpPr/>
          <p:nvPr/>
        </p:nvSpPr>
        <p:spPr>
          <a:xfrm>
            <a:off x="3274209" y="1289447"/>
            <a:ext cx="35719" cy="464316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23" name="Text 20"/>
          <p:cNvSpPr/>
          <p:nvPr/>
        </p:nvSpPr>
        <p:spPr>
          <a:xfrm>
            <a:off x="3381366" y="1375172"/>
            <a:ext cx="97643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Form field automation</a:t>
            </a:r>
            <a:endParaRPr lang="en-US" sz="674" dirty="0"/>
          </a:p>
        </p:txBody>
      </p:sp>
      <p:sp>
        <p:nvSpPr>
          <p:cNvPr id="24" name="Text 21"/>
          <p:cNvSpPr/>
          <p:nvPr/>
        </p:nvSpPr>
        <p:spPr>
          <a:xfrm>
            <a:off x="3381366" y="1548045"/>
            <a:ext cx="2381241" cy="119993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100% coverage</a:t>
            </a:r>
            <a:endParaRPr lang="en-US" sz="621" dirty="0"/>
          </a:p>
        </p:txBody>
      </p:sp>
      <p:sp>
        <p:nvSpPr>
          <p:cNvPr id="25" name="Shape 22"/>
          <p:cNvSpPr/>
          <p:nvPr/>
        </p:nvSpPr>
        <p:spPr>
          <a:xfrm>
            <a:off x="3274209" y="1825200"/>
            <a:ext cx="2595553" cy="464316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6" name="Shape 23"/>
          <p:cNvSpPr/>
          <p:nvPr/>
        </p:nvSpPr>
        <p:spPr>
          <a:xfrm>
            <a:off x="3274209" y="1825200"/>
            <a:ext cx="35719" cy="464316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27" name="Text 24"/>
          <p:cNvSpPr/>
          <p:nvPr/>
        </p:nvSpPr>
        <p:spPr>
          <a:xfrm>
            <a:off x="3381366" y="1548045"/>
            <a:ext cx="857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38B2AC"/>
                </a:solidFill>
              </a:rPr>
              <a:t>→</a:t>
            </a:r>
            <a:endParaRPr lang="en-US" sz="584" dirty="0"/>
          </a:p>
        </p:txBody>
      </p:sp>
      <p:sp>
        <p:nvSpPr>
          <p:cNvPr id="28" name="Text 25"/>
          <p:cNvSpPr/>
          <p:nvPr/>
        </p:nvSpPr>
        <p:spPr>
          <a:xfrm>
            <a:off x="3381366" y="1910925"/>
            <a:ext cx="62382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PDF validation</a:t>
            </a:r>
            <a:endParaRPr lang="en-US" sz="674" dirty="0"/>
          </a:p>
        </p:txBody>
      </p:sp>
      <p:sp>
        <p:nvSpPr>
          <p:cNvPr id="29" name="Text 26"/>
          <p:cNvSpPr/>
          <p:nvPr/>
        </p:nvSpPr>
        <p:spPr>
          <a:xfrm>
            <a:off x="3381366" y="2083798"/>
            <a:ext cx="2381241" cy="119993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Download &amp; verify 11 fields per submission</a:t>
            </a:r>
            <a:endParaRPr lang="en-US" sz="621" dirty="0"/>
          </a:p>
        </p:txBody>
      </p:sp>
      <p:sp>
        <p:nvSpPr>
          <p:cNvPr id="30" name="Shape 27"/>
          <p:cNvSpPr/>
          <p:nvPr/>
        </p:nvSpPr>
        <p:spPr>
          <a:xfrm>
            <a:off x="3274209" y="2360954"/>
            <a:ext cx="2595553" cy="464316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1" name="Shape 28"/>
          <p:cNvSpPr/>
          <p:nvPr/>
        </p:nvSpPr>
        <p:spPr>
          <a:xfrm>
            <a:off x="3274209" y="2360954"/>
            <a:ext cx="35719" cy="464316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32" name="Text 29"/>
          <p:cNvSpPr/>
          <p:nvPr/>
        </p:nvSpPr>
        <p:spPr>
          <a:xfrm>
            <a:off x="3381366" y="2083798"/>
            <a:ext cx="857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38B2AC"/>
                </a:solidFill>
              </a:rPr>
              <a:t>→</a:t>
            </a:r>
            <a:endParaRPr lang="en-US" sz="584" dirty="0"/>
          </a:p>
        </p:txBody>
      </p:sp>
      <p:sp>
        <p:nvSpPr>
          <p:cNvPr id="33" name="Text 30"/>
          <p:cNvSpPr/>
          <p:nvPr/>
        </p:nvSpPr>
        <p:spPr>
          <a:xfrm>
            <a:off x="3381366" y="2446679"/>
            <a:ext cx="115120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Email approval integration</a:t>
            </a:r>
            <a:endParaRPr lang="en-US" sz="674" dirty="0"/>
          </a:p>
        </p:txBody>
      </p:sp>
      <p:sp>
        <p:nvSpPr>
          <p:cNvPr id="34" name="Text 31"/>
          <p:cNvSpPr/>
          <p:nvPr/>
        </p:nvSpPr>
        <p:spPr>
          <a:xfrm>
            <a:off x="3381366" y="2619552"/>
            <a:ext cx="2381241" cy="119993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IMAP protocol support</a:t>
            </a:r>
            <a:endParaRPr lang="en-US" sz="621" dirty="0"/>
          </a:p>
        </p:txBody>
      </p:sp>
      <p:sp>
        <p:nvSpPr>
          <p:cNvPr id="35" name="Shape 32"/>
          <p:cNvSpPr/>
          <p:nvPr/>
        </p:nvSpPr>
        <p:spPr>
          <a:xfrm>
            <a:off x="3274209" y="2896707"/>
            <a:ext cx="2595553" cy="464316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6" name="Shape 33"/>
          <p:cNvSpPr/>
          <p:nvPr/>
        </p:nvSpPr>
        <p:spPr>
          <a:xfrm>
            <a:off x="3274209" y="2896707"/>
            <a:ext cx="35719" cy="464316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37" name="Text 34"/>
          <p:cNvSpPr/>
          <p:nvPr/>
        </p:nvSpPr>
        <p:spPr>
          <a:xfrm>
            <a:off x="3381366" y="2619552"/>
            <a:ext cx="857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38B2AC"/>
                </a:solidFill>
              </a:rPr>
              <a:t>→</a:t>
            </a:r>
            <a:endParaRPr lang="en-US" sz="584" dirty="0"/>
          </a:p>
        </p:txBody>
      </p:sp>
      <p:sp>
        <p:nvSpPr>
          <p:cNvPr id="38" name="Text 35"/>
          <p:cNvSpPr/>
          <p:nvPr/>
        </p:nvSpPr>
        <p:spPr>
          <a:xfrm>
            <a:off x="3381366" y="2982432"/>
            <a:ext cx="84354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Screenshot capture</a:t>
            </a:r>
            <a:endParaRPr lang="en-US" sz="674" dirty="0"/>
          </a:p>
        </p:txBody>
      </p:sp>
      <p:sp>
        <p:nvSpPr>
          <p:cNvPr id="39" name="Text 36"/>
          <p:cNvSpPr/>
          <p:nvPr/>
        </p:nvSpPr>
        <p:spPr>
          <a:xfrm>
            <a:off x="3381366" y="3155305"/>
            <a:ext cx="2381241" cy="119993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Evidence for every test</a:t>
            </a:r>
            <a:endParaRPr lang="en-US" sz="621" dirty="0"/>
          </a:p>
        </p:txBody>
      </p:sp>
      <p:sp>
        <p:nvSpPr>
          <p:cNvPr id="40" name="Shape 37"/>
          <p:cNvSpPr/>
          <p:nvPr/>
        </p:nvSpPr>
        <p:spPr>
          <a:xfrm>
            <a:off x="3274209" y="3432460"/>
            <a:ext cx="2595553" cy="464316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1" name="Shape 38"/>
          <p:cNvSpPr/>
          <p:nvPr/>
        </p:nvSpPr>
        <p:spPr>
          <a:xfrm>
            <a:off x="3274209" y="3432460"/>
            <a:ext cx="35719" cy="464316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42" name="Text 39"/>
          <p:cNvSpPr/>
          <p:nvPr/>
        </p:nvSpPr>
        <p:spPr>
          <a:xfrm>
            <a:off x="3381366" y="3155305"/>
            <a:ext cx="857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38B2AC"/>
                </a:solidFill>
              </a:rPr>
              <a:t>→</a:t>
            </a:r>
            <a:endParaRPr lang="en-US" sz="584" dirty="0"/>
          </a:p>
        </p:txBody>
      </p:sp>
      <p:sp>
        <p:nvSpPr>
          <p:cNvPr id="43" name="Text 40"/>
          <p:cNvSpPr/>
          <p:nvPr/>
        </p:nvSpPr>
        <p:spPr>
          <a:xfrm>
            <a:off x="3381366" y="3518185"/>
            <a:ext cx="60208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CSV reporting</a:t>
            </a:r>
            <a:endParaRPr lang="en-US" sz="674" dirty="0"/>
          </a:p>
        </p:txBody>
      </p:sp>
      <p:sp>
        <p:nvSpPr>
          <p:cNvPr id="44" name="Text 41"/>
          <p:cNvSpPr/>
          <p:nvPr/>
        </p:nvSpPr>
        <p:spPr>
          <a:xfrm>
            <a:off x="3381366" y="3691058"/>
            <a:ext cx="2381241" cy="119993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Pass/fail indicators</a:t>
            </a:r>
            <a:endParaRPr lang="en-US" sz="621" dirty="0"/>
          </a:p>
        </p:txBody>
      </p:sp>
      <p:sp>
        <p:nvSpPr>
          <p:cNvPr id="45" name="Shape 42"/>
          <p:cNvSpPr/>
          <p:nvPr/>
        </p:nvSpPr>
        <p:spPr>
          <a:xfrm>
            <a:off x="3274209" y="3968214"/>
            <a:ext cx="2595553" cy="464316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6" name="Shape 43"/>
          <p:cNvSpPr/>
          <p:nvPr/>
        </p:nvSpPr>
        <p:spPr>
          <a:xfrm>
            <a:off x="3274209" y="3968214"/>
            <a:ext cx="35719" cy="464316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47" name="Text 44"/>
          <p:cNvSpPr/>
          <p:nvPr/>
        </p:nvSpPr>
        <p:spPr>
          <a:xfrm>
            <a:off x="3381366" y="3691058"/>
            <a:ext cx="857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38B2AC"/>
                </a:solidFill>
              </a:rPr>
              <a:t>→</a:t>
            </a:r>
            <a:endParaRPr lang="en-US" sz="584" dirty="0"/>
          </a:p>
        </p:txBody>
      </p:sp>
      <p:sp>
        <p:nvSpPr>
          <p:cNvPr id="48" name="Text 45"/>
          <p:cNvSpPr/>
          <p:nvPr/>
        </p:nvSpPr>
        <p:spPr>
          <a:xfrm>
            <a:off x="3381366" y="4053939"/>
            <a:ext cx="118243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Multi-environment support</a:t>
            </a:r>
            <a:endParaRPr lang="en-US" sz="674" dirty="0"/>
          </a:p>
        </p:txBody>
      </p:sp>
      <p:sp>
        <p:nvSpPr>
          <p:cNvPr id="49" name="Text 46"/>
          <p:cNvSpPr/>
          <p:nvPr/>
        </p:nvSpPr>
        <p:spPr>
          <a:xfrm>
            <a:off x="3381366" y="4226812"/>
            <a:ext cx="2381241" cy="119993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Dev &amp; UAT compatibility</a:t>
            </a:r>
            <a:endParaRPr lang="en-US" sz="621" dirty="0"/>
          </a:p>
        </p:txBody>
      </p:sp>
      <p:sp>
        <p:nvSpPr>
          <p:cNvPr id="50" name="Shape 47"/>
          <p:cNvSpPr/>
          <p:nvPr/>
        </p:nvSpPr>
        <p:spPr>
          <a:xfrm>
            <a:off x="3274209" y="4503967"/>
            <a:ext cx="2595553" cy="464316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51" name="Shape 48"/>
          <p:cNvSpPr/>
          <p:nvPr/>
        </p:nvSpPr>
        <p:spPr>
          <a:xfrm>
            <a:off x="3274209" y="4503967"/>
            <a:ext cx="35719" cy="464316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52" name="Text 49"/>
          <p:cNvSpPr/>
          <p:nvPr/>
        </p:nvSpPr>
        <p:spPr>
          <a:xfrm>
            <a:off x="3381366" y="4226812"/>
            <a:ext cx="857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38B2AC"/>
                </a:solidFill>
              </a:rPr>
              <a:t>→</a:t>
            </a:r>
            <a:endParaRPr lang="en-US" sz="584" dirty="0"/>
          </a:p>
        </p:txBody>
      </p:sp>
      <p:sp>
        <p:nvSpPr>
          <p:cNvPr id="53" name="Text 50"/>
          <p:cNvSpPr/>
          <p:nvPr/>
        </p:nvSpPr>
        <p:spPr>
          <a:xfrm>
            <a:off x="3381366" y="4589692"/>
            <a:ext cx="88775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3-tier error handling</a:t>
            </a:r>
            <a:endParaRPr lang="en-US" sz="674" dirty="0"/>
          </a:p>
        </p:txBody>
      </p:sp>
      <p:sp>
        <p:nvSpPr>
          <p:cNvPr id="54" name="Text 51"/>
          <p:cNvSpPr/>
          <p:nvPr/>
        </p:nvSpPr>
        <p:spPr>
          <a:xfrm>
            <a:off x="3381366" y="4762565"/>
            <a:ext cx="2381241" cy="119993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Robust failure management</a:t>
            </a:r>
            <a:endParaRPr lang="en-US" sz="621" dirty="0"/>
          </a:p>
        </p:txBody>
      </p:sp>
      <p:sp>
        <p:nvSpPr>
          <p:cNvPr id="55" name="Text 52"/>
          <p:cNvSpPr/>
          <p:nvPr/>
        </p:nvSpPr>
        <p:spPr>
          <a:xfrm>
            <a:off x="3381366" y="4762565"/>
            <a:ext cx="857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38B2AC"/>
                </a:solidFill>
              </a:rPr>
              <a:t>→</a:t>
            </a:r>
            <a:endParaRPr lang="en-US" sz="584" dirty="0"/>
          </a:p>
        </p:txBody>
      </p:sp>
      <p:pic>
        <p:nvPicPr>
          <p:cNvPr id="5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9794" y="950119"/>
            <a:ext cx="2595553" cy="1714500"/>
          </a:xfrm>
          <a:prstGeom prst="rect">
            <a:avLst/>
          </a:prstGeom>
        </p:spPr>
      </p:pic>
      <p:sp>
        <p:nvSpPr>
          <p:cNvPr id="57" name="Shape 53"/>
          <p:cNvSpPr/>
          <p:nvPr/>
        </p:nvSpPr>
        <p:spPr>
          <a:xfrm>
            <a:off x="6119794" y="4007448"/>
            <a:ext cx="2595553" cy="1032272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58" name="Shape 54"/>
          <p:cNvSpPr/>
          <p:nvPr/>
        </p:nvSpPr>
        <p:spPr>
          <a:xfrm>
            <a:off x="6119794" y="4007448"/>
            <a:ext cx="35719" cy="1032272"/>
          </a:xfrm>
          <a:prstGeom prst="rect">
            <a:avLst/>
          </a:prstGeom>
          <a:solidFill>
            <a:srgbClr val="D53F8C"/>
          </a:solidFill>
          <a:ln/>
        </p:spPr>
      </p:sp>
      <p:sp>
        <p:nvSpPr>
          <p:cNvPr id="59" name="Text 55"/>
          <p:cNvSpPr/>
          <p:nvPr/>
        </p:nvSpPr>
        <p:spPr>
          <a:xfrm>
            <a:off x="6226950" y="4114605"/>
            <a:ext cx="2381241" cy="200025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365D"/>
                </a:solidFill>
              </a:rPr>
              <a:t>Technology Stack</a:t>
            </a:r>
            <a:endParaRPr lang="en-US" sz="584" dirty="0"/>
          </a:p>
        </p:txBody>
      </p:sp>
      <p:sp>
        <p:nvSpPr>
          <p:cNvPr id="60" name="Text 56"/>
          <p:cNvSpPr/>
          <p:nvPr/>
        </p:nvSpPr>
        <p:spPr>
          <a:xfrm>
            <a:off x="6226950" y="4386067"/>
            <a:ext cx="2381241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Python + Selenium + Playwright</a:t>
            </a:r>
            <a:endParaRPr lang="en-US" sz="674" dirty="0"/>
          </a:p>
        </p:txBody>
      </p:sp>
      <p:sp>
        <p:nvSpPr>
          <p:cNvPr id="61" name="Text 57"/>
          <p:cNvSpPr/>
          <p:nvPr/>
        </p:nvSpPr>
        <p:spPr>
          <a:xfrm>
            <a:off x="6226950" y="4568233"/>
            <a:ext cx="2381241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openpyxl, pandas, pdfplumber</a:t>
            </a:r>
            <a:endParaRPr lang="en-US" sz="674" dirty="0"/>
          </a:p>
        </p:txBody>
      </p:sp>
      <p:sp>
        <p:nvSpPr>
          <p:cNvPr id="62" name="Text 58"/>
          <p:cNvSpPr/>
          <p:nvPr/>
        </p:nvSpPr>
        <p:spPr>
          <a:xfrm>
            <a:off x="6226950" y="4750398"/>
            <a:ext cx="2381241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GitHub for version control</a:t>
            </a:r>
            <a:endParaRPr lang="en-US" sz="674" dirty="0"/>
          </a:p>
        </p:txBody>
      </p:sp>
      <p:sp>
        <p:nvSpPr>
          <p:cNvPr id="63" name="Text 59"/>
          <p:cNvSpPr/>
          <p:nvPr/>
        </p:nvSpPr>
        <p:spPr>
          <a:xfrm>
            <a:off x="6226950" y="4386067"/>
            <a:ext cx="7143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D53F8C"/>
                </a:solidFill>
              </a:rPr>
              <a:t>◆</a:t>
            </a:r>
            <a:endParaRPr lang="en-US" sz="516" dirty="0"/>
          </a:p>
        </p:txBody>
      </p:sp>
      <p:sp>
        <p:nvSpPr>
          <p:cNvPr id="64" name="Text 60"/>
          <p:cNvSpPr/>
          <p:nvPr/>
        </p:nvSpPr>
        <p:spPr>
          <a:xfrm>
            <a:off x="6226950" y="4568233"/>
            <a:ext cx="7143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D53F8C"/>
                </a:solidFill>
              </a:rPr>
              <a:t>◆</a:t>
            </a:r>
            <a:endParaRPr lang="en-US" sz="516" dirty="0"/>
          </a:p>
        </p:txBody>
      </p:sp>
      <p:sp>
        <p:nvSpPr>
          <p:cNvPr id="65" name="Text 61"/>
          <p:cNvSpPr/>
          <p:nvPr/>
        </p:nvSpPr>
        <p:spPr>
          <a:xfrm>
            <a:off x="6226950" y="4750398"/>
            <a:ext cx="7143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D53F8C"/>
                </a:solidFill>
              </a:rPr>
              <a:t>◆</a:t>
            </a:r>
            <a:endParaRPr lang="en-US" sz="516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1A365D"/>
                </a:solidFill>
              </a:rPr>
              <a:t>How We Implemented It: The Human + AI Collaboration Model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428625" y="1057275"/>
            <a:ext cx="8286750" cy="455749"/>
          </a:xfrm>
          <a:prstGeom prst="rect">
            <a:avLst/>
          </a:prstGeom>
          <a:solidFill>
            <a:srgbClr val="FEF5E7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1057275"/>
            <a:ext cx="35719" cy="455749"/>
          </a:xfrm>
          <a:prstGeom prst="rect">
            <a:avLst/>
          </a:prstGeom>
          <a:solidFill>
            <a:srgbClr val="D53F8C"/>
          </a:solidFill>
          <a:ln/>
        </p:spPr>
      </p:sp>
      <p:sp>
        <p:nvSpPr>
          <p:cNvPr id="6" name="Text 3"/>
          <p:cNvSpPr/>
          <p:nvPr/>
        </p:nvSpPr>
        <p:spPr>
          <a:xfrm>
            <a:off x="428625" y="1057275"/>
            <a:ext cx="8286750" cy="455749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2D3748"/>
                </a:solidFill>
              </a:rPr>
              <a:t>The success of this project came from a balanced partnership where humans and AI each contributed their unique strengths. Neither could have achieved this alone.</a:t>
            </a:r>
            <a:endParaRPr lang="en-US" sz="727" dirty="0"/>
          </a:p>
        </p:txBody>
      </p:sp>
      <p:sp>
        <p:nvSpPr>
          <p:cNvPr id="7" name="Text 4"/>
          <p:cNvSpPr/>
          <p:nvPr/>
        </p:nvSpPr>
        <p:spPr>
          <a:xfrm>
            <a:off x="428625" y="1727336"/>
            <a:ext cx="3964781" cy="264319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365D"/>
                </a:solidFill>
              </a:rPr>
              <a:t>Humans Provided</a:t>
            </a:r>
            <a:endParaRPr lang="en-US" sz="683" dirty="0"/>
          </a:p>
        </p:txBody>
      </p:sp>
      <p:sp>
        <p:nvSpPr>
          <p:cNvPr id="8" name="Shape 5"/>
          <p:cNvSpPr/>
          <p:nvPr/>
        </p:nvSpPr>
        <p:spPr>
          <a:xfrm>
            <a:off x="428625" y="2134530"/>
            <a:ext cx="3964781" cy="388609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9" name="Shape 6"/>
          <p:cNvSpPr/>
          <p:nvPr/>
        </p:nvSpPr>
        <p:spPr>
          <a:xfrm>
            <a:off x="428625" y="2134530"/>
            <a:ext cx="35719" cy="388609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10" name="Text 7"/>
          <p:cNvSpPr/>
          <p:nvPr/>
        </p:nvSpPr>
        <p:spPr>
          <a:xfrm>
            <a:off x="428625" y="2134530"/>
            <a:ext cx="3964781" cy="388609"/>
          </a:xfrm>
          <a:prstGeom prst="rect">
            <a:avLst/>
          </a:prstGeom>
          <a:noFill/>
          <a:ln/>
        </p:spPr>
        <p:txBody>
          <a:bodyPr wrap="square" lIns="127508" tIns="136017" rIns="127508" bIns="136017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2D3748"/>
                </a:solidFill>
              </a:rPr>
              <a:t>Business context and domain knowledge</a:t>
            </a:r>
            <a:endParaRPr lang="en-US" sz="727" dirty="0"/>
          </a:p>
        </p:txBody>
      </p:sp>
      <p:sp>
        <p:nvSpPr>
          <p:cNvPr id="11" name="Shape 8"/>
          <p:cNvSpPr/>
          <p:nvPr/>
        </p:nvSpPr>
        <p:spPr>
          <a:xfrm>
            <a:off x="428625" y="2623152"/>
            <a:ext cx="3964781" cy="388609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2" name="Shape 9"/>
          <p:cNvSpPr/>
          <p:nvPr/>
        </p:nvSpPr>
        <p:spPr>
          <a:xfrm>
            <a:off x="428625" y="2623152"/>
            <a:ext cx="35719" cy="388609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13" name="Text 10"/>
          <p:cNvSpPr/>
          <p:nvPr/>
        </p:nvSpPr>
        <p:spPr>
          <a:xfrm>
            <a:off x="428625" y="2623152"/>
            <a:ext cx="3964781" cy="388609"/>
          </a:xfrm>
          <a:prstGeom prst="rect">
            <a:avLst/>
          </a:prstGeom>
          <a:noFill/>
          <a:ln/>
        </p:spPr>
        <p:txBody>
          <a:bodyPr wrap="square" lIns="127508" tIns="136017" rIns="127508" bIns="136017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2D3748"/>
                </a:solidFill>
              </a:rPr>
              <a:t>Validation of logic and requirements</a:t>
            </a:r>
            <a:endParaRPr lang="en-US" sz="727" dirty="0"/>
          </a:p>
        </p:txBody>
      </p:sp>
      <p:sp>
        <p:nvSpPr>
          <p:cNvPr id="14" name="Shape 11"/>
          <p:cNvSpPr/>
          <p:nvPr/>
        </p:nvSpPr>
        <p:spPr>
          <a:xfrm>
            <a:off x="428625" y="3111773"/>
            <a:ext cx="3964781" cy="388609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5" name="Shape 12"/>
          <p:cNvSpPr/>
          <p:nvPr/>
        </p:nvSpPr>
        <p:spPr>
          <a:xfrm>
            <a:off x="428625" y="3111773"/>
            <a:ext cx="35719" cy="388609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16" name="Text 13"/>
          <p:cNvSpPr/>
          <p:nvPr/>
        </p:nvSpPr>
        <p:spPr>
          <a:xfrm>
            <a:off x="428625" y="3111773"/>
            <a:ext cx="3964781" cy="388609"/>
          </a:xfrm>
          <a:prstGeom prst="rect">
            <a:avLst/>
          </a:prstGeom>
          <a:noFill/>
          <a:ln/>
        </p:spPr>
        <p:txBody>
          <a:bodyPr wrap="square" lIns="127508" tIns="136017" rIns="127508" bIns="136017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2D3748"/>
                </a:solidFill>
              </a:rPr>
              <a:t>Decision-making on priorities</a:t>
            </a:r>
            <a:endParaRPr lang="en-US" sz="727" dirty="0"/>
          </a:p>
        </p:txBody>
      </p:sp>
      <p:sp>
        <p:nvSpPr>
          <p:cNvPr id="17" name="Shape 14"/>
          <p:cNvSpPr/>
          <p:nvPr/>
        </p:nvSpPr>
        <p:spPr>
          <a:xfrm>
            <a:off x="428625" y="3600394"/>
            <a:ext cx="3964781" cy="388609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8" name="Shape 15"/>
          <p:cNvSpPr/>
          <p:nvPr/>
        </p:nvSpPr>
        <p:spPr>
          <a:xfrm>
            <a:off x="428625" y="3600394"/>
            <a:ext cx="35719" cy="388609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19" name="Text 16"/>
          <p:cNvSpPr/>
          <p:nvPr/>
        </p:nvSpPr>
        <p:spPr>
          <a:xfrm>
            <a:off x="428625" y="3600394"/>
            <a:ext cx="3964781" cy="388609"/>
          </a:xfrm>
          <a:prstGeom prst="rect">
            <a:avLst/>
          </a:prstGeom>
          <a:noFill/>
          <a:ln/>
        </p:spPr>
        <p:txBody>
          <a:bodyPr wrap="square" lIns="127508" tIns="136017" rIns="127508" bIns="136017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2D3748"/>
                </a:solidFill>
              </a:rPr>
              <a:t>Creative problem-solving for novel situations</a:t>
            </a:r>
            <a:endParaRPr lang="en-US" sz="727" dirty="0"/>
          </a:p>
        </p:txBody>
      </p:sp>
      <p:sp>
        <p:nvSpPr>
          <p:cNvPr id="20" name="Shape 17"/>
          <p:cNvSpPr/>
          <p:nvPr/>
        </p:nvSpPr>
        <p:spPr>
          <a:xfrm>
            <a:off x="428625" y="4089016"/>
            <a:ext cx="3964781" cy="388609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1" name="Shape 18"/>
          <p:cNvSpPr/>
          <p:nvPr/>
        </p:nvSpPr>
        <p:spPr>
          <a:xfrm>
            <a:off x="428625" y="4089016"/>
            <a:ext cx="35719" cy="388609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22" name="Text 19"/>
          <p:cNvSpPr/>
          <p:nvPr/>
        </p:nvSpPr>
        <p:spPr>
          <a:xfrm>
            <a:off x="428625" y="4089016"/>
            <a:ext cx="3964781" cy="388609"/>
          </a:xfrm>
          <a:prstGeom prst="rect">
            <a:avLst/>
          </a:prstGeom>
          <a:noFill/>
          <a:ln/>
        </p:spPr>
        <p:txBody>
          <a:bodyPr wrap="square" lIns="127508" tIns="136017" rIns="127508" bIns="136017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2D3748"/>
                </a:solidFill>
              </a:rPr>
              <a:t>Quality assurance of AI outputs</a:t>
            </a:r>
            <a:endParaRPr lang="en-US" sz="727" dirty="0"/>
          </a:p>
        </p:txBody>
      </p:sp>
      <p:sp>
        <p:nvSpPr>
          <p:cNvPr id="23" name="Text 20"/>
          <p:cNvSpPr/>
          <p:nvPr/>
        </p:nvSpPr>
        <p:spPr>
          <a:xfrm>
            <a:off x="4750594" y="1727336"/>
            <a:ext cx="3964781" cy="264319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365D"/>
                </a:solidFill>
              </a:rPr>
              <a:t>AI Provided</a:t>
            </a:r>
            <a:endParaRPr lang="en-US" sz="683" dirty="0"/>
          </a:p>
        </p:txBody>
      </p:sp>
      <p:sp>
        <p:nvSpPr>
          <p:cNvPr id="24" name="Shape 21"/>
          <p:cNvSpPr/>
          <p:nvPr/>
        </p:nvSpPr>
        <p:spPr>
          <a:xfrm>
            <a:off x="4750594" y="2134530"/>
            <a:ext cx="3964781" cy="388609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5" name="Shape 22"/>
          <p:cNvSpPr/>
          <p:nvPr/>
        </p:nvSpPr>
        <p:spPr>
          <a:xfrm>
            <a:off x="4750594" y="2134530"/>
            <a:ext cx="35719" cy="388609"/>
          </a:xfrm>
          <a:prstGeom prst="rect">
            <a:avLst/>
          </a:prstGeom>
          <a:solidFill>
            <a:srgbClr val="D53F8C"/>
          </a:solidFill>
          <a:ln/>
        </p:spPr>
      </p:sp>
      <p:sp>
        <p:nvSpPr>
          <p:cNvPr id="26" name="Text 23"/>
          <p:cNvSpPr/>
          <p:nvPr/>
        </p:nvSpPr>
        <p:spPr>
          <a:xfrm>
            <a:off x="4750594" y="2134530"/>
            <a:ext cx="3964781" cy="388609"/>
          </a:xfrm>
          <a:prstGeom prst="rect">
            <a:avLst/>
          </a:prstGeom>
          <a:noFill/>
          <a:ln/>
        </p:spPr>
        <p:txBody>
          <a:bodyPr wrap="square" lIns="127508" tIns="136017" rIns="127508" bIns="136017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2D3748"/>
                </a:solidFill>
              </a:rPr>
              <a:t>Pattern recognition across 61 workflows</a:t>
            </a:r>
            <a:endParaRPr lang="en-US" sz="727" dirty="0"/>
          </a:p>
        </p:txBody>
      </p:sp>
      <p:sp>
        <p:nvSpPr>
          <p:cNvPr id="27" name="Shape 24"/>
          <p:cNvSpPr/>
          <p:nvPr/>
        </p:nvSpPr>
        <p:spPr>
          <a:xfrm>
            <a:off x="4750594" y="2623152"/>
            <a:ext cx="3964781" cy="388609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8" name="Shape 25"/>
          <p:cNvSpPr/>
          <p:nvPr/>
        </p:nvSpPr>
        <p:spPr>
          <a:xfrm>
            <a:off x="4750594" y="2623152"/>
            <a:ext cx="35719" cy="388609"/>
          </a:xfrm>
          <a:prstGeom prst="rect">
            <a:avLst/>
          </a:prstGeom>
          <a:solidFill>
            <a:srgbClr val="D53F8C"/>
          </a:solidFill>
          <a:ln/>
        </p:spPr>
      </p:sp>
      <p:sp>
        <p:nvSpPr>
          <p:cNvPr id="29" name="Text 26"/>
          <p:cNvSpPr/>
          <p:nvPr/>
        </p:nvSpPr>
        <p:spPr>
          <a:xfrm>
            <a:off x="4750594" y="2623152"/>
            <a:ext cx="3964781" cy="388609"/>
          </a:xfrm>
          <a:prstGeom prst="rect">
            <a:avLst/>
          </a:prstGeom>
          <a:noFill/>
          <a:ln/>
        </p:spPr>
        <p:txBody>
          <a:bodyPr wrap="square" lIns="127508" tIns="136017" rIns="127508" bIns="136017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2D3748"/>
                </a:solidFill>
              </a:rPr>
              <a:t>Rapid code generation (~4,700 lines)</a:t>
            </a:r>
            <a:endParaRPr lang="en-US" sz="727" dirty="0"/>
          </a:p>
        </p:txBody>
      </p:sp>
      <p:sp>
        <p:nvSpPr>
          <p:cNvPr id="30" name="Shape 27"/>
          <p:cNvSpPr/>
          <p:nvPr/>
        </p:nvSpPr>
        <p:spPr>
          <a:xfrm>
            <a:off x="4750594" y="3111773"/>
            <a:ext cx="3964781" cy="388609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1" name="Shape 28"/>
          <p:cNvSpPr/>
          <p:nvPr/>
        </p:nvSpPr>
        <p:spPr>
          <a:xfrm>
            <a:off x="4750594" y="3111773"/>
            <a:ext cx="35719" cy="388609"/>
          </a:xfrm>
          <a:prstGeom prst="rect">
            <a:avLst/>
          </a:prstGeom>
          <a:solidFill>
            <a:srgbClr val="D53F8C"/>
          </a:solidFill>
          <a:ln/>
        </p:spPr>
      </p:sp>
      <p:sp>
        <p:nvSpPr>
          <p:cNvPr id="32" name="Text 29"/>
          <p:cNvSpPr/>
          <p:nvPr/>
        </p:nvSpPr>
        <p:spPr>
          <a:xfrm>
            <a:off x="4750594" y="3111773"/>
            <a:ext cx="3964781" cy="388609"/>
          </a:xfrm>
          <a:prstGeom prst="rect">
            <a:avLst/>
          </a:prstGeom>
          <a:noFill/>
          <a:ln/>
        </p:spPr>
        <p:txBody>
          <a:bodyPr wrap="square" lIns="127508" tIns="136017" rIns="127508" bIns="136017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2D3748"/>
                </a:solidFill>
              </a:rPr>
              <a:t>Exhaustive scenario enumeration (276 scenarios)</a:t>
            </a:r>
            <a:endParaRPr lang="en-US" sz="727" dirty="0"/>
          </a:p>
        </p:txBody>
      </p:sp>
      <p:sp>
        <p:nvSpPr>
          <p:cNvPr id="33" name="Shape 30"/>
          <p:cNvSpPr/>
          <p:nvPr/>
        </p:nvSpPr>
        <p:spPr>
          <a:xfrm>
            <a:off x="4750594" y="3600394"/>
            <a:ext cx="3964781" cy="388609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4" name="Shape 31"/>
          <p:cNvSpPr/>
          <p:nvPr/>
        </p:nvSpPr>
        <p:spPr>
          <a:xfrm>
            <a:off x="4750594" y="3600394"/>
            <a:ext cx="35719" cy="388609"/>
          </a:xfrm>
          <a:prstGeom prst="rect">
            <a:avLst/>
          </a:prstGeom>
          <a:solidFill>
            <a:srgbClr val="D53F8C"/>
          </a:solidFill>
          <a:ln/>
        </p:spPr>
      </p:sp>
      <p:sp>
        <p:nvSpPr>
          <p:cNvPr id="35" name="Text 32"/>
          <p:cNvSpPr/>
          <p:nvPr/>
        </p:nvSpPr>
        <p:spPr>
          <a:xfrm>
            <a:off x="4750594" y="3600394"/>
            <a:ext cx="3964781" cy="388609"/>
          </a:xfrm>
          <a:prstGeom prst="rect">
            <a:avLst/>
          </a:prstGeom>
          <a:noFill/>
          <a:ln/>
        </p:spPr>
        <p:txBody>
          <a:bodyPr wrap="square" lIns="127508" tIns="136017" rIns="127508" bIns="136017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2D3748"/>
                </a:solidFill>
              </a:rPr>
              <a:t>Consistent documentation</a:t>
            </a:r>
            <a:endParaRPr lang="en-US" sz="727" dirty="0"/>
          </a:p>
        </p:txBody>
      </p:sp>
      <p:sp>
        <p:nvSpPr>
          <p:cNvPr id="36" name="Shape 33"/>
          <p:cNvSpPr/>
          <p:nvPr/>
        </p:nvSpPr>
        <p:spPr>
          <a:xfrm>
            <a:off x="4750594" y="4089016"/>
            <a:ext cx="3964781" cy="388609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7" name="Shape 34"/>
          <p:cNvSpPr/>
          <p:nvPr/>
        </p:nvSpPr>
        <p:spPr>
          <a:xfrm>
            <a:off x="4750594" y="4089016"/>
            <a:ext cx="35719" cy="388609"/>
          </a:xfrm>
          <a:prstGeom prst="rect">
            <a:avLst/>
          </a:prstGeom>
          <a:solidFill>
            <a:srgbClr val="D53F8C"/>
          </a:solidFill>
          <a:ln/>
        </p:spPr>
      </p:sp>
      <p:sp>
        <p:nvSpPr>
          <p:cNvPr id="38" name="Text 35"/>
          <p:cNvSpPr/>
          <p:nvPr/>
        </p:nvSpPr>
        <p:spPr>
          <a:xfrm>
            <a:off x="4750594" y="4089016"/>
            <a:ext cx="3964781" cy="388609"/>
          </a:xfrm>
          <a:prstGeom prst="rect">
            <a:avLst/>
          </a:prstGeom>
          <a:noFill/>
          <a:ln/>
        </p:spPr>
        <p:txBody>
          <a:bodyPr wrap="square" lIns="127508" tIns="136017" rIns="127508" bIns="136017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2D3748"/>
                </a:solidFill>
              </a:rPr>
              <a:t>Debugging suggestions based on error patterns</a:t>
            </a:r>
            <a:endParaRPr lang="en-US" sz="72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1A365D"/>
                </a:solidFill>
              </a:rPr>
              <a:t>The Implementation Process: From Requirements to Delivery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428625" y="950119"/>
            <a:ext cx="2336006" cy="60788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950119"/>
            <a:ext cx="35719" cy="607888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6" name="Shape 3"/>
          <p:cNvSpPr/>
          <p:nvPr/>
        </p:nvSpPr>
        <p:spPr>
          <a:xfrm>
            <a:off x="528638" y="1064419"/>
            <a:ext cx="257175" cy="257175"/>
          </a:xfrm>
          <a:prstGeom prst="ellipse">
            <a:avLst/>
          </a:prstGeom>
          <a:solidFill>
            <a:srgbClr val="38B2AC"/>
          </a:solidFill>
          <a:ln/>
        </p:spPr>
      </p:sp>
      <p:sp>
        <p:nvSpPr>
          <p:cNvPr id="7" name="Text 4"/>
          <p:cNvSpPr/>
          <p:nvPr/>
        </p:nvSpPr>
        <p:spPr>
          <a:xfrm>
            <a:off x="528638" y="1064419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1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871538" y="1050131"/>
            <a:ext cx="17930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65D"/>
                </a:solidFill>
              </a:rPr>
              <a:t>Human uploads requirements</a:t>
            </a:r>
            <a:endParaRPr lang="en-US" sz="634" dirty="0"/>
          </a:p>
        </p:txBody>
      </p:sp>
      <p:sp>
        <p:nvSpPr>
          <p:cNvPr id="9" name="Text 6"/>
          <p:cNvSpPr/>
          <p:nvPr/>
        </p:nvSpPr>
        <p:spPr>
          <a:xfrm>
            <a:off x="871538" y="1218009"/>
            <a:ext cx="1793081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Business requirements and specifications provided</a:t>
            </a:r>
            <a:endParaRPr lang="en-US" sz="621" dirty="0"/>
          </a:p>
        </p:txBody>
      </p:sp>
      <p:sp>
        <p:nvSpPr>
          <p:cNvPr id="10" name="Shape 7"/>
          <p:cNvSpPr/>
          <p:nvPr/>
        </p:nvSpPr>
        <p:spPr>
          <a:xfrm>
            <a:off x="2893219" y="950119"/>
            <a:ext cx="2336006" cy="60788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1" name="Shape 8"/>
          <p:cNvSpPr/>
          <p:nvPr/>
        </p:nvSpPr>
        <p:spPr>
          <a:xfrm>
            <a:off x="2893219" y="950119"/>
            <a:ext cx="35719" cy="607888"/>
          </a:xfrm>
          <a:prstGeom prst="rect">
            <a:avLst/>
          </a:prstGeom>
          <a:solidFill>
            <a:srgbClr val="D53F8C"/>
          </a:solidFill>
          <a:ln/>
        </p:spPr>
      </p:sp>
      <p:sp>
        <p:nvSpPr>
          <p:cNvPr id="12" name="Shape 9"/>
          <p:cNvSpPr/>
          <p:nvPr/>
        </p:nvSpPr>
        <p:spPr>
          <a:xfrm>
            <a:off x="2993231" y="1064419"/>
            <a:ext cx="257175" cy="257175"/>
          </a:xfrm>
          <a:prstGeom prst="ellipse">
            <a:avLst/>
          </a:prstGeom>
          <a:solidFill>
            <a:srgbClr val="D53F8C"/>
          </a:solidFill>
          <a:ln/>
        </p:spPr>
      </p:sp>
      <p:sp>
        <p:nvSpPr>
          <p:cNvPr id="13" name="Text 10"/>
          <p:cNvSpPr/>
          <p:nvPr/>
        </p:nvSpPr>
        <p:spPr>
          <a:xfrm>
            <a:off x="2993231" y="1064419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2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3336131" y="1050131"/>
            <a:ext cx="17930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65D"/>
                </a:solidFill>
              </a:rPr>
              <a:t>AI analyzes and proposes</a:t>
            </a:r>
            <a:endParaRPr lang="en-US" sz="634" dirty="0"/>
          </a:p>
        </p:txBody>
      </p:sp>
      <p:sp>
        <p:nvSpPr>
          <p:cNvPr id="15" name="Text 12"/>
          <p:cNvSpPr/>
          <p:nvPr/>
        </p:nvSpPr>
        <p:spPr>
          <a:xfrm>
            <a:off x="3336131" y="1218009"/>
            <a:ext cx="1793081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AI reviews and suggests solutions</a:t>
            </a:r>
            <a:endParaRPr lang="en-US" sz="621" dirty="0"/>
          </a:p>
        </p:txBody>
      </p:sp>
      <p:sp>
        <p:nvSpPr>
          <p:cNvPr id="16" name="Shape 13"/>
          <p:cNvSpPr/>
          <p:nvPr/>
        </p:nvSpPr>
        <p:spPr>
          <a:xfrm>
            <a:off x="428625" y="1686595"/>
            <a:ext cx="2336006" cy="487896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7" name="Shape 14"/>
          <p:cNvSpPr/>
          <p:nvPr/>
        </p:nvSpPr>
        <p:spPr>
          <a:xfrm>
            <a:off x="428625" y="1686595"/>
            <a:ext cx="35719" cy="487896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18" name="Shape 15"/>
          <p:cNvSpPr/>
          <p:nvPr/>
        </p:nvSpPr>
        <p:spPr>
          <a:xfrm>
            <a:off x="528638" y="1800895"/>
            <a:ext cx="257175" cy="257175"/>
          </a:xfrm>
          <a:prstGeom prst="ellipse">
            <a:avLst/>
          </a:prstGeom>
          <a:solidFill>
            <a:srgbClr val="38B2AC"/>
          </a:solidFill>
          <a:ln/>
        </p:spPr>
      </p:sp>
      <p:sp>
        <p:nvSpPr>
          <p:cNvPr id="19" name="Text 16"/>
          <p:cNvSpPr/>
          <p:nvPr/>
        </p:nvSpPr>
        <p:spPr>
          <a:xfrm>
            <a:off x="528638" y="1800895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3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871538" y="1786607"/>
            <a:ext cx="17930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65D"/>
                </a:solidFill>
              </a:rPr>
              <a:t>Human validates logic</a:t>
            </a:r>
            <a:endParaRPr lang="en-US" sz="634" dirty="0"/>
          </a:p>
        </p:txBody>
      </p:sp>
      <p:sp>
        <p:nvSpPr>
          <p:cNvPr id="21" name="Text 18"/>
          <p:cNvSpPr/>
          <p:nvPr/>
        </p:nvSpPr>
        <p:spPr>
          <a:xfrm>
            <a:off x="871538" y="1954485"/>
            <a:ext cx="1793081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Business logic verification and approval</a:t>
            </a:r>
            <a:endParaRPr lang="en-US" sz="621" dirty="0"/>
          </a:p>
        </p:txBody>
      </p:sp>
      <p:sp>
        <p:nvSpPr>
          <p:cNvPr id="22" name="Shape 19"/>
          <p:cNvSpPr/>
          <p:nvPr/>
        </p:nvSpPr>
        <p:spPr>
          <a:xfrm>
            <a:off x="2893219" y="1686595"/>
            <a:ext cx="2336006" cy="487896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3" name="Shape 20"/>
          <p:cNvSpPr/>
          <p:nvPr/>
        </p:nvSpPr>
        <p:spPr>
          <a:xfrm>
            <a:off x="2893219" y="1686595"/>
            <a:ext cx="35719" cy="487896"/>
          </a:xfrm>
          <a:prstGeom prst="rect">
            <a:avLst/>
          </a:prstGeom>
          <a:solidFill>
            <a:srgbClr val="D53F8C"/>
          </a:solidFill>
          <a:ln/>
        </p:spPr>
      </p:sp>
      <p:sp>
        <p:nvSpPr>
          <p:cNvPr id="24" name="Shape 21"/>
          <p:cNvSpPr/>
          <p:nvPr/>
        </p:nvSpPr>
        <p:spPr>
          <a:xfrm>
            <a:off x="2993231" y="1800895"/>
            <a:ext cx="257175" cy="257175"/>
          </a:xfrm>
          <a:prstGeom prst="ellipse">
            <a:avLst/>
          </a:prstGeom>
          <a:solidFill>
            <a:srgbClr val="D53F8C"/>
          </a:solidFill>
          <a:ln/>
        </p:spPr>
      </p:sp>
      <p:sp>
        <p:nvSpPr>
          <p:cNvPr id="25" name="Text 22"/>
          <p:cNvSpPr/>
          <p:nvPr/>
        </p:nvSpPr>
        <p:spPr>
          <a:xfrm>
            <a:off x="2993231" y="1800895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4</a:t>
            </a:r>
            <a:endParaRPr lang="en-US" sz="784" dirty="0"/>
          </a:p>
        </p:txBody>
      </p:sp>
      <p:sp>
        <p:nvSpPr>
          <p:cNvPr id="26" name="Text 23"/>
          <p:cNvSpPr/>
          <p:nvPr/>
        </p:nvSpPr>
        <p:spPr>
          <a:xfrm>
            <a:off x="3336131" y="1786607"/>
            <a:ext cx="17930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65D"/>
                </a:solidFill>
              </a:rPr>
              <a:t>AI generates code structure</a:t>
            </a:r>
            <a:endParaRPr lang="en-US" sz="634" dirty="0"/>
          </a:p>
        </p:txBody>
      </p:sp>
      <p:sp>
        <p:nvSpPr>
          <p:cNvPr id="27" name="Text 24"/>
          <p:cNvSpPr/>
          <p:nvPr/>
        </p:nvSpPr>
        <p:spPr>
          <a:xfrm>
            <a:off x="3336131" y="1954485"/>
            <a:ext cx="1793081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Production-quality code generation</a:t>
            </a:r>
            <a:endParaRPr lang="en-US" sz="621" dirty="0"/>
          </a:p>
        </p:txBody>
      </p:sp>
      <p:sp>
        <p:nvSpPr>
          <p:cNvPr id="28" name="Shape 25"/>
          <p:cNvSpPr/>
          <p:nvPr/>
        </p:nvSpPr>
        <p:spPr>
          <a:xfrm>
            <a:off x="428625" y="2303078"/>
            <a:ext cx="2336006" cy="487896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9" name="Shape 26"/>
          <p:cNvSpPr/>
          <p:nvPr/>
        </p:nvSpPr>
        <p:spPr>
          <a:xfrm>
            <a:off x="428625" y="2303078"/>
            <a:ext cx="35719" cy="487896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30" name="Shape 27"/>
          <p:cNvSpPr/>
          <p:nvPr/>
        </p:nvSpPr>
        <p:spPr>
          <a:xfrm>
            <a:off x="528638" y="2417378"/>
            <a:ext cx="257175" cy="257175"/>
          </a:xfrm>
          <a:prstGeom prst="ellipse">
            <a:avLst/>
          </a:prstGeom>
          <a:solidFill>
            <a:srgbClr val="38B2AC"/>
          </a:solidFill>
          <a:ln/>
        </p:spPr>
      </p:sp>
      <p:sp>
        <p:nvSpPr>
          <p:cNvPr id="31" name="Text 28"/>
          <p:cNvSpPr/>
          <p:nvPr/>
        </p:nvSpPr>
        <p:spPr>
          <a:xfrm>
            <a:off x="528638" y="2417378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5</a:t>
            </a:r>
            <a:endParaRPr lang="en-US" sz="784" dirty="0"/>
          </a:p>
        </p:txBody>
      </p:sp>
      <p:sp>
        <p:nvSpPr>
          <p:cNvPr id="32" name="Text 29"/>
          <p:cNvSpPr/>
          <p:nvPr/>
        </p:nvSpPr>
        <p:spPr>
          <a:xfrm>
            <a:off x="871538" y="2403091"/>
            <a:ext cx="17930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65D"/>
                </a:solidFill>
              </a:rPr>
              <a:t>Iterate on debugging</a:t>
            </a:r>
            <a:endParaRPr lang="en-US" sz="634" dirty="0"/>
          </a:p>
        </p:txBody>
      </p:sp>
      <p:sp>
        <p:nvSpPr>
          <p:cNvPr id="33" name="Text 30"/>
          <p:cNvSpPr/>
          <p:nvPr/>
        </p:nvSpPr>
        <p:spPr>
          <a:xfrm>
            <a:off x="871538" y="2570969"/>
            <a:ext cx="1793081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Refinement and error resolution</a:t>
            </a:r>
            <a:endParaRPr lang="en-US" sz="621" dirty="0"/>
          </a:p>
        </p:txBody>
      </p:sp>
      <p:sp>
        <p:nvSpPr>
          <p:cNvPr id="34" name="Shape 31"/>
          <p:cNvSpPr/>
          <p:nvPr/>
        </p:nvSpPr>
        <p:spPr>
          <a:xfrm>
            <a:off x="2893219" y="2303078"/>
            <a:ext cx="2336006" cy="487896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5" name="Shape 32"/>
          <p:cNvSpPr/>
          <p:nvPr/>
        </p:nvSpPr>
        <p:spPr>
          <a:xfrm>
            <a:off x="2893219" y="2303078"/>
            <a:ext cx="35719" cy="487896"/>
          </a:xfrm>
          <a:prstGeom prst="rect">
            <a:avLst/>
          </a:prstGeom>
          <a:solidFill>
            <a:srgbClr val="D53F8C"/>
          </a:solidFill>
          <a:ln/>
        </p:spPr>
      </p:sp>
      <p:sp>
        <p:nvSpPr>
          <p:cNvPr id="36" name="Shape 33"/>
          <p:cNvSpPr/>
          <p:nvPr/>
        </p:nvSpPr>
        <p:spPr>
          <a:xfrm>
            <a:off x="2993231" y="2417378"/>
            <a:ext cx="257175" cy="257175"/>
          </a:xfrm>
          <a:prstGeom prst="ellipse">
            <a:avLst/>
          </a:prstGeom>
          <a:solidFill>
            <a:srgbClr val="D53F8C"/>
          </a:solidFill>
          <a:ln/>
        </p:spPr>
      </p:sp>
      <p:sp>
        <p:nvSpPr>
          <p:cNvPr id="37" name="Text 34"/>
          <p:cNvSpPr/>
          <p:nvPr/>
        </p:nvSpPr>
        <p:spPr>
          <a:xfrm>
            <a:off x="2993231" y="2417378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6</a:t>
            </a:r>
            <a:endParaRPr lang="en-US" sz="784" dirty="0"/>
          </a:p>
        </p:txBody>
      </p:sp>
      <p:sp>
        <p:nvSpPr>
          <p:cNvPr id="38" name="Text 35"/>
          <p:cNvSpPr/>
          <p:nvPr/>
        </p:nvSpPr>
        <p:spPr>
          <a:xfrm>
            <a:off x="3336131" y="2403091"/>
            <a:ext cx="17930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65D"/>
                </a:solidFill>
              </a:rPr>
              <a:t>Human validates outputs</a:t>
            </a:r>
            <a:endParaRPr lang="en-US" sz="634" dirty="0"/>
          </a:p>
        </p:txBody>
      </p:sp>
      <p:sp>
        <p:nvSpPr>
          <p:cNvPr id="39" name="Text 36"/>
          <p:cNvSpPr/>
          <p:nvPr/>
        </p:nvSpPr>
        <p:spPr>
          <a:xfrm>
            <a:off x="3336131" y="2570969"/>
            <a:ext cx="1793081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Final quality assurance and approval</a:t>
            </a:r>
            <a:endParaRPr lang="en-US" sz="621" dirty="0"/>
          </a:p>
        </p:txBody>
      </p:sp>
      <p:sp>
        <p:nvSpPr>
          <p:cNvPr id="40" name="Shape 37"/>
          <p:cNvSpPr/>
          <p:nvPr/>
        </p:nvSpPr>
        <p:spPr>
          <a:xfrm>
            <a:off x="428625" y="2919561"/>
            <a:ext cx="4800600" cy="487896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1" name="Shape 38"/>
          <p:cNvSpPr/>
          <p:nvPr/>
        </p:nvSpPr>
        <p:spPr>
          <a:xfrm>
            <a:off x="428625" y="2919561"/>
            <a:ext cx="35719" cy="487896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42" name="Shape 39"/>
          <p:cNvSpPr/>
          <p:nvPr/>
        </p:nvSpPr>
        <p:spPr>
          <a:xfrm>
            <a:off x="528638" y="3033861"/>
            <a:ext cx="257175" cy="257175"/>
          </a:xfrm>
          <a:prstGeom prst="ellipse">
            <a:avLst/>
          </a:prstGeom>
          <a:solidFill>
            <a:srgbClr val="38B2AC"/>
          </a:solidFill>
          <a:ln/>
        </p:spPr>
      </p:sp>
      <p:sp>
        <p:nvSpPr>
          <p:cNvPr id="43" name="Text 40"/>
          <p:cNvSpPr/>
          <p:nvPr/>
        </p:nvSpPr>
        <p:spPr>
          <a:xfrm>
            <a:off x="528638" y="3033861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7</a:t>
            </a:r>
            <a:endParaRPr lang="en-US" sz="784" dirty="0"/>
          </a:p>
        </p:txBody>
      </p:sp>
      <p:sp>
        <p:nvSpPr>
          <p:cNvPr id="44" name="Text 41"/>
          <p:cNvSpPr/>
          <p:nvPr/>
        </p:nvSpPr>
        <p:spPr>
          <a:xfrm>
            <a:off x="871538" y="3019574"/>
            <a:ext cx="425767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65D"/>
                </a:solidFill>
              </a:rPr>
              <a:t>AI generates documentation</a:t>
            </a:r>
            <a:endParaRPr lang="en-US" sz="634" dirty="0"/>
          </a:p>
        </p:txBody>
      </p:sp>
      <p:sp>
        <p:nvSpPr>
          <p:cNvPr id="45" name="Text 42"/>
          <p:cNvSpPr/>
          <p:nvPr/>
        </p:nvSpPr>
        <p:spPr>
          <a:xfrm>
            <a:off x="871538" y="3187452"/>
            <a:ext cx="42576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Comprehensive documentation created alongside code for sustainability and knowledge transfer</a:t>
            </a:r>
            <a:endParaRPr lang="en-US" sz="621" dirty="0"/>
          </a:p>
        </p:txBody>
      </p:sp>
      <p:pic>
        <p:nvPicPr>
          <p:cNvPr id="4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4975" y="950119"/>
            <a:ext cx="3200400" cy="1714500"/>
          </a:xfrm>
          <a:prstGeom prst="rect">
            <a:avLst/>
          </a:prstGeom>
        </p:spPr>
      </p:pic>
      <p:sp>
        <p:nvSpPr>
          <p:cNvPr id="47" name="Shape 43"/>
          <p:cNvSpPr/>
          <p:nvPr/>
        </p:nvSpPr>
        <p:spPr>
          <a:xfrm>
            <a:off x="5514975" y="2807494"/>
            <a:ext cx="3200400" cy="800100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48" name="Text 44"/>
          <p:cNvSpPr/>
          <p:nvPr/>
        </p:nvSpPr>
        <p:spPr>
          <a:xfrm>
            <a:off x="5657850" y="2950369"/>
            <a:ext cx="642938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2436" b="1" dirty="0">
                <a:solidFill>
                  <a:srgbClr val="FFFFFF"/>
                </a:solidFill>
              </a:rPr>
              <a:t>12</a:t>
            </a:r>
            <a:endParaRPr lang="en-US" sz="2436" dirty="0"/>
          </a:p>
        </p:txBody>
      </p:sp>
      <p:sp>
        <p:nvSpPr>
          <p:cNvPr id="49" name="Text 45"/>
          <p:cNvSpPr/>
          <p:nvPr/>
        </p:nvSpPr>
        <p:spPr>
          <a:xfrm>
            <a:off x="6443663" y="3047535"/>
            <a:ext cx="212883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weeks from concept to 6 fully automated payment types</a:t>
            </a:r>
            <a:endParaRPr lang="en-US" sz="68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1A365D"/>
                </a:solidFill>
              </a:rPr>
              <a:t>Real Example - AI Solving the Impossible: The Merged Cells Problem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428625" y="985838"/>
            <a:ext cx="2643188" cy="321469"/>
          </a:xfrm>
          <a:prstGeom prst="rect">
            <a:avLst/>
          </a:prstGeom>
          <a:solidFill>
            <a:srgbClr val="D53F8C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985838"/>
            <a:ext cx="2643188" cy="32146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The Challenge</a:t>
            </a:r>
            <a:endParaRPr lang="en-US" sz="683" dirty="0"/>
          </a:p>
        </p:txBody>
      </p:sp>
      <p:sp>
        <p:nvSpPr>
          <p:cNvPr id="6" name="Shape 3"/>
          <p:cNvSpPr/>
          <p:nvPr/>
        </p:nvSpPr>
        <p:spPr>
          <a:xfrm>
            <a:off x="428625" y="1485900"/>
            <a:ext cx="2643188" cy="582885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7" name="Shape 4"/>
          <p:cNvSpPr/>
          <p:nvPr/>
        </p:nvSpPr>
        <p:spPr>
          <a:xfrm>
            <a:off x="428625" y="1485900"/>
            <a:ext cx="35719" cy="582885"/>
          </a:xfrm>
          <a:prstGeom prst="rect">
            <a:avLst/>
          </a:prstGeom>
          <a:solidFill>
            <a:srgbClr val="D53F8C"/>
          </a:solidFill>
          <a:ln/>
        </p:spPr>
      </p:sp>
      <p:sp>
        <p:nvSpPr>
          <p:cNvPr id="8" name="Text 5"/>
          <p:cNvSpPr/>
          <p:nvPr/>
        </p:nvSpPr>
        <p:spPr>
          <a:xfrm>
            <a:off x="535781" y="1593056"/>
            <a:ext cx="2428875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2D3748"/>
                </a:solidFill>
              </a:rPr>
              <a:t>Excel approval logic used merged cells for readability</a:t>
            </a:r>
            <a:endParaRPr lang="en-US" sz="634" dirty="0"/>
          </a:p>
        </p:txBody>
      </p:sp>
      <p:sp>
        <p:nvSpPr>
          <p:cNvPr id="9" name="Shape 6"/>
          <p:cNvSpPr/>
          <p:nvPr/>
        </p:nvSpPr>
        <p:spPr>
          <a:xfrm>
            <a:off x="428625" y="2027374"/>
            <a:ext cx="2643188" cy="116298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0" name="Shape 7"/>
          <p:cNvSpPr/>
          <p:nvPr/>
        </p:nvSpPr>
        <p:spPr>
          <a:xfrm>
            <a:off x="428625" y="2027374"/>
            <a:ext cx="35719" cy="1162980"/>
          </a:xfrm>
          <a:prstGeom prst="rect">
            <a:avLst/>
          </a:prstGeom>
          <a:solidFill>
            <a:srgbClr val="D53F8C"/>
          </a:solidFill>
          <a:ln/>
        </p:spPr>
      </p:sp>
      <p:sp>
        <p:nvSpPr>
          <p:cNvPr id="11" name="Text 8"/>
          <p:cNvSpPr/>
          <p:nvPr/>
        </p:nvSpPr>
        <p:spPr>
          <a:xfrm>
            <a:off x="535781" y="2134530"/>
            <a:ext cx="2428875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2D3748"/>
                </a:solidFill>
              </a:rPr>
              <a:t>The Problem:</a:t>
            </a:r>
            <a:endParaRPr lang="en-US" sz="634" dirty="0"/>
          </a:p>
        </p:txBody>
      </p:sp>
      <p:sp>
        <p:nvSpPr>
          <p:cNvPr id="12" name="Text 9"/>
          <p:cNvSpPr/>
          <p:nvPr/>
        </p:nvSpPr>
        <p:spPr>
          <a:xfrm>
            <a:off x="535781" y="2354535"/>
            <a:ext cx="928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D53F8C"/>
                </a:solidFill>
              </a:rPr>
              <a:t>●</a:t>
            </a:r>
            <a:endParaRPr lang="en-US" sz="634" dirty="0"/>
          </a:p>
        </p:txBody>
      </p:sp>
      <p:sp>
        <p:nvSpPr>
          <p:cNvPr id="13" name="Text 10"/>
          <p:cNvSpPr/>
          <p:nvPr/>
        </p:nvSpPr>
        <p:spPr>
          <a:xfrm>
            <a:off x="664369" y="2359893"/>
            <a:ext cx="2093091" cy="266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Standard Python (pandas) couldn't read merged cells</a:t>
            </a:r>
            <a:endParaRPr lang="en-US" sz="674" dirty="0"/>
          </a:p>
        </p:txBody>
      </p:sp>
      <p:sp>
        <p:nvSpPr>
          <p:cNvPr id="14" name="Text 11"/>
          <p:cNvSpPr/>
          <p:nvPr/>
        </p:nvSpPr>
        <p:spPr>
          <a:xfrm>
            <a:off x="535781" y="2690292"/>
            <a:ext cx="928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D53F8C"/>
                </a:solidFill>
              </a:rPr>
              <a:t>●</a:t>
            </a:r>
            <a:endParaRPr lang="en-US" sz="634" dirty="0"/>
          </a:p>
        </p:txBody>
      </p:sp>
      <p:sp>
        <p:nvSpPr>
          <p:cNvPr id="15" name="Text 12"/>
          <p:cNvSpPr/>
          <p:nvPr/>
        </p:nvSpPr>
        <p:spPr>
          <a:xfrm>
            <a:off x="664369" y="2695649"/>
            <a:ext cx="133362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50+ workflows appeared blank</a:t>
            </a:r>
            <a:endParaRPr lang="en-US" sz="674" dirty="0"/>
          </a:p>
        </p:txBody>
      </p:sp>
      <p:sp>
        <p:nvSpPr>
          <p:cNvPr id="16" name="Text 13"/>
          <p:cNvSpPr/>
          <p:nvPr/>
        </p:nvSpPr>
        <p:spPr>
          <a:xfrm>
            <a:off x="535781" y="2886745"/>
            <a:ext cx="928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D53F8C"/>
                </a:solidFill>
              </a:rPr>
              <a:t>●</a:t>
            </a:r>
            <a:endParaRPr lang="en-US" sz="634" dirty="0"/>
          </a:p>
        </p:txBody>
      </p:sp>
      <p:sp>
        <p:nvSpPr>
          <p:cNvPr id="17" name="Text 14"/>
          <p:cNvSpPr/>
          <p:nvPr/>
        </p:nvSpPr>
        <p:spPr>
          <a:xfrm>
            <a:off x="664369" y="2892103"/>
            <a:ext cx="150392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Manual solution would take weeks</a:t>
            </a:r>
            <a:endParaRPr lang="en-US" sz="674" dirty="0"/>
          </a:p>
        </p:txBody>
      </p:sp>
      <p:sp>
        <p:nvSpPr>
          <p:cNvPr id="18" name="Shape 15"/>
          <p:cNvSpPr/>
          <p:nvPr/>
        </p:nvSpPr>
        <p:spPr>
          <a:xfrm>
            <a:off x="3250406" y="985838"/>
            <a:ext cx="2643188" cy="321469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6"/>
          <p:cNvSpPr/>
          <p:nvPr/>
        </p:nvSpPr>
        <p:spPr>
          <a:xfrm>
            <a:off x="3250406" y="985838"/>
            <a:ext cx="2643188" cy="32146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Traditional Approach</a:t>
            </a:r>
            <a:endParaRPr lang="en-US" sz="683" dirty="0"/>
          </a:p>
        </p:txBody>
      </p:sp>
      <p:sp>
        <p:nvSpPr>
          <p:cNvPr id="20" name="Shape 17"/>
          <p:cNvSpPr/>
          <p:nvPr/>
        </p:nvSpPr>
        <p:spPr>
          <a:xfrm>
            <a:off x="3250406" y="1485900"/>
            <a:ext cx="2643188" cy="1023677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1" name="Shape 18"/>
          <p:cNvSpPr/>
          <p:nvPr/>
        </p:nvSpPr>
        <p:spPr>
          <a:xfrm>
            <a:off x="3250406" y="1485900"/>
            <a:ext cx="35719" cy="1023677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Text 19"/>
          <p:cNvSpPr/>
          <p:nvPr/>
        </p:nvSpPr>
        <p:spPr>
          <a:xfrm>
            <a:off x="3357563" y="1593056"/>
            <a:ext cx="2428875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2D3748"/>
                </a:solidFill>
              </a:rPr>
              <a:t>Manual Solution:</a:t>
            </a:r>
            <a:endParaRPr lang="en-US" sz="634" dirty="0"/>
          </a:p>
        </p:txBody>
      </p:sp>
      <p:sp>
        <p:nvSpPr>
          <p:cNvPr id="23" name="Text 20"/>
          <p:cNvSpPr/>
          <p:nvPr/>
        </p:nvSpPr>
        <p:spPr>
          <a:xfrm>
            <a:off x="3357563" y="1813061"/>
            <a:ext cx="928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D97706"/>
                </a:solidFill>
              </a:rPr>
              <a:t>→</a:t>
            </a:r>
            <a:endParaRPr lang="en-US" sz="634" dirty="0"/>
          </a:p>
        </p:txBody>
      </p:sp>
      <p:sp>
        <p:nvSpPr>
          <p:cNvPr id="24" name="Text 21"/>
          <p:cNvSpPr/>
          <p:nvPr/>
        </p:nvSpPr>
        <p:spPr>
          <a:xfrm>
            <a:off x="3486150" y="1818419"/>
            <a:ext cx="125252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Manually unmerge every cell</a:t>
            </a:r>
            <a:endParaRPr lang="en-US" sz="674" dirty="0"/>
          </a:p>
        </p:txBody>
      </p:sp>
      <p:sp>
        <p:nvSpPr>
          <p:cNvPr id="25" name="Text 22"/>
          <p:cNvSpPr/>
          <p:nvPr/>
        </p:nvSpPr>
        <p:spPr>
          <a:xfrm>
            <a:off x="3357563" y="2009515"/>
            <a:ext cx="928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D97706"/>
                </a:solidFill>
              </a:rPr>
              <a:t>→</a:t>
            </a:r>
            <a:endParaRPr lang="en-US" sz="634" dirty="0"/>
          </a:p>
        </p:txBody>
      </p:sp>
      <p:sp>
        <p:nvSpPr>
          <p:cNvPr id="26" name="Text 23"/>
          <p:cNvSpPr/>
          <p:nvPr/>
        </p:nvSpPr>
        <p:spPr>
          <a:xfrm>
            <a:off x="3486150" y="2014872"/>
            <a:ext cx="113644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Re-enter data consistently</a:t>
            </a:r>
            <a:endParaRPr lang="en-US" sz="674" dirty="0"/>
          </a:p>
        </p:txBody>
      </p:sp>
      <p:sp>
        <p:nvSpPr>
          <p:cNvPr id="27" name="Text 24"/>
          <p:cNvSpPr/>
          <p:nvPr/>
        </p:nvSpPr>
        <p:spPr>
          <a:xfrm>
            <a:off x="3357563" y="2205968"/>
            <a:ext cx="928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D97706"/>
                </a:solidFill>
              </a:rPr>
              <a:t>→</a:t>
            </a:r>
            <a:endParaRPr lang="en-US" sz="634" dirty="0"/>
          </a:p>
        </p:txBody>
      </p:sp>
      <p:sp>
        <p:nvSpPr>
          <p:cNvPr id="28" name="Text 25"/>
          <p:cNvSpPr/>
          <p:nvPr/>
        </p:nvSpPr>
        <p:spPr>
          <a:xfrm>
            <a:off x="3486150" y="2211325"/>
            <a:ext cx="142277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Verify accuracy across 100+ rows</a:t>
            </a:r>
            <a:endParaRPr lang="en-US" sz="674" dirty="0"/>
          </a:p>
        </p:txBody>
      </p:sp>
      <p:sp>
        <p:nvSpPr>
          <p:cNvPr id="29" name="Shape 26"/>
          <p:cNvSpPr/>
          <p:nvPr/>
        </p:nvSpPr>
        <p:spPr>
          <a:xfrm>
            <a:off x="3250406" y="2688171"/>
            <a:ext cx="2643188" cy="539353"/>
          </a:xfrm>
          <a:prstGeom prst="rect">
            <a:avLst/>
          </a:prstGeom>
          <a:solidFill>
            <a:srgbClr val="FEF5E7"/>
          </a:solidFill>
          <a:ln/>
        </p:spPr>
      </p:sp>
      <p:sp>
        <p:nvSpPr>
          <p:cNvPr id="30" name="Shape 27"/>
          <p:cNvSpPr/>
          <p:nvPr/>
        </p:nvSpPr>
        <p:spPr>
          <a:xfrm>
            <a:off x="3250406" y="2688171"/>
            <a:ext cx="35719" cy="539353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1" name="Text 28"/>
          <p:cNvSpPr/>
          <p:nvPr/>
        </p:nvSpPr>
        <p:spPr>
          <a:xfrm>
            <a:off x="3336131" y="2773896"/>
            <a:ext cx="247173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D97706"/>
                </a:solidFill>
              </a:rPr>
              <a:t>⏱ Estimated Time:</a:t>
            </a:r>
            <a:endParaRPr lang="en-US" sz="634" dirty="0"/>
          </a:p>
        </p:txBody>
      </p:sp>
      <p:sp>
        <p:nvSpPr>
          <p:cNvPr id="32" name="Text 29"/>
          <p:cNvSpPr/>
          <p:nvPr/>
        </p:nvSpPr>
        <p:spPr>
          <a:xfrm>
            <a:off x="3336131" y="2948918"/>
            <a:ext cx="247173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D97706"/>
                </a:solidFill>
              </a:rPr>
              <a:t>2-3 Weeks</a:t>
            </a:r>
            <a:endParaRPr lang="en-US" sz="885" dirty="0"/>
          </a:p>
        </p:txBody>
      </p:sp>
      <p:sp>
        <p:nvSpPr>
          <p:cNvPr id="33" name="Shape 30"/>
          <p:cNvSpPr/>
          <p:nvPr/>
        </p:nvSpPr>
        <p:spPr>
          <a:xfrm>
            <a:off x="6072188" y="985838"/>
            <a:ext cx="2643188" cy="321469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34" name="Text 31"/>
          <p:cNvSpPr/>
          <p:nvPr/>
        </p:nvSpPr>
        <p:spPr>
          <a:xfrm>
            <a:off x="6072188" y="985838"/>
            <a:ext cx="2643188" cy="32146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AI Approach</a:t>
            </a:r>
            <a:endParaRPr lang="en-US" sz="683" dirty="0"/>
          </a:p>
        </p:txBody>
      </p:sp>
      <p:sp>
        <p:nvSpPr>
          <p:cNvPr id="35" name="Shape 32"/>
          <p:cNvSpPr/>
          <p:nvPr/>
        </p:nvSpPr>
        <p:spPr>
          <a:xfrm>
            <a:off x="6072188" y="1485900"/>
            <a:ext cx="2643188" cy="1416583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6" name="Shape 33"/>
          <p:cNvSpPr/>
          <p:nvPr/>
        </p:nvSpPr>
        <p:spPr>
          <a:xfrm>
            <a:off x="6072188" y="1485900"/>
            <a:ext cx="35719" cy="1416583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37" name="Text 34"/>
          <p:cNvSpPr/>
          <p:nvPr/>
        </p:nvSpPr>
        <p:spPr>
          <a:xfrm>
            <a:off x="6179344" y="1593056"/>
            <a:ext cx="2428875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2D3748"/>
                </a:solidFill>
              </a:rPr>
              <a:t>AI Solution:</a:t>
            </a:r>
            <a:endParaRPr lang="en-US" sz="634" dirty="0"/>
          </a:p>
        </p:txBody>
      </p:sp>
      <p:sp>
        <p:nvSpPr>
          <p:cNvPr id="38" name="Text 35"/>
          <p:cNvSpPr/>
          <p:nvPr/>
        </p:nvSpPr>
        <p:spPr>
          <a:xfrm>
            <a:off x="6179344" y="1813061"/>
            <a:ext cx="6714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8B2AC"/>
                </a:solidFill>
              </a:rPr>
              <a:t>✓</a:t>
            </a:r>
            <a:endParaRPr lang="en-US" sz="634" dirty="0"/>
          </a:p>
        </p:txBody>
      </p:sp>
      <p:sp>
        <p:nvSpPr>
          <p:cNvPr id="39" name="Text 36"/>
          <p:cNvSpPr/>
          <p:nvPr/>
        </p:nvSpPr>
        <p:spPr>
          <a:xfrm>
            <a:off x="6307931" y="1818419"/>
            <a:ext cx="124901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Identified merged cells issue</a:t>
            </a:r>
            <a:endParaRPr lang="en-US" sz="674" dirty="0"/>
          </a:p>
        </p:txBody>
      </p:sp>
      <p:sp>
        <p:nvSpPr>
          <p:cNvPr id="40" name="Text 37"/>
          <p:cNvSpPr/>
          <p:nvPr/>
        </p:nvSpPr>
        <p:spPr>
          <a:xfrm>
            <a:off x="6179344" y="2009515"/>
            <a:ext cx="6714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8B2AC"/>
                </a:solidFill>
              </a:rPr>
              <a:t>✓</a:t>
            </a:r>
            <a:endParaRPr lang="en-US" sz="634" dirty="0"/>
          </a:p>
        </p:txBody>
      </p:sp>
      <p:sp>
        <p:nvSpPr>
          <p:cNvPr id="41" name="Text 38"/>
          <p:cNvSpPr/>
          <p:nvPr/>
        </p:nvSpPr>
        <p:spPr>
          <a:xfrm>
            <a:off x="6307931" y="2014872"/>
            <a:ext cx="114258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Proposed openpyxl library</a:t>
            </a:r>
            <a:endParaRPr lang="en-US" sz="674" dirty="0"/>
          </a:p>
        </p:txBody>
      </p:sp>
      <p:sp>
        <p:nvSpPr>
          <p:cNvPr id="42" name="Text 39"/>
          <p:cNvSpPr/>
          <p:nvPr/>
        </p:nvSpPr>
        <p:spPr>
          <a:xfrm>
            <a:off x="6179344" y="2205968"/>
            <a:ext cx="6714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8B2AC"/>
                </a:solidFill>
              </a:rPr>
              <a:t>✓</a:t>
            </a:r>
            <a:endParaRPr lang="en-US" sz="634" dirty="0"/>
          </a:p>
        </p:txBody>
      </p:sp>
      <p:sp>
        <p:nvSpPr>
          <p:cNvPr id="43" name="Text 40"/>
          <p:cNvSpPr/>
          <p:nvPr/>
        </p:nvSpPr>
        <p:spPr>
          <a:xfrm>
            <a:off x="6307931" y="2211325"/>
            <a:ext cx="109985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Detect all merged ranges</a:t>
            </a:r>
            <a:endParaRPr lang="en-US" sz="674" dirty="0"/>
          </a:p>
        </p:txBody>
      </p:sp>
      <p:sp>
        <p:nvSpPr>
          <p:cNvPr id="44" name="Text 41"/>
          <p:cNvSpPr/>
          <p:nvPr/>
        </p:nvSpPr>
        <p:spPr>
          <a:xfrm>
            <a:off x="6179344" y="2402421"/>
            <a:ext cx="6714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8B2AC"/>
                </a:solidFill>
              </a:rPr>
              <a:t>✓</a:t>
            </a:r>
            <a:endParaRPr lang="en-US" sz="634" dirty="0"/>
          </a:p>
        </p:txBody>
      </p:sp>
      <p:sp>
        <p:nvSpPr>
          <p:cNvPr id="45" name="Text 42"/>
          <p:cNvSpPr/>
          <p:nvPr/>
        </p:nvSpPr>
        <p:spPr>
          <a:xfrm>
            <a:off x="6307931" y="2407779"/>
            <a:ext cx="84502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Unmerge &amp; fill cells</a:t>
            </a:r>
            <a:endParaRPr lang="en-US" sz="674" dirty="0"/>
          </a:p>
        </p:txBody>
      </p:sp>
      <p:sp>
        <p:nvSpPr>
          <p:cNvPr id="46" name="Text 43"/>
          <p:cNvSpPr/>
          <p:nvPr/>
        </p:nvSpPr>
        <p:spPr>
          <a:xfrm>
            <a:off x="6179344" y="2598874"/>
            <a:ext cx="6714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8B2AC"/>
                </a:solidFill>
              </a:rPr>
              <a:t>✓</a:t>
            </a:r>
            <a:endParaRPr lang="en-US" sz="634" dirty="0"/>
          </a:p>
        </p:txBody>
      </p:sp>
      <p:sp>
        <p:nvSpPr>
          <p:cNvPr id="47" name="Text 44"/>
          <p:cNvSpPr/>
          <p:nvPr/>
        </p:nvSpPr>
        <p:spPr>
          <a:xfrm>
            <a:off x="6307931" y="2604232"/>
            <a:ext cx="98823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Re-read complete data</a:t>
            </a:r>
            <a:endParaRPr lang="en-US" sz="674" dirty="0"/>
          </a:p>
        </p:txBody>
      </p:sp>
      <p:sp>
        <p:nvSpPr>
          <p:cNvPr id="48" name="Shape 45"/>
          <p:cNvSpPr/>
          <p:nvPr/>
        </p:nvSpPr>
        <p:spPr>
          <a:xfrm>
            <a:off x="6072188" y="3081077"/>
            <a:ext cx="2643188" cy="539353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49" name="Shape 46"/>
          <p:cNvSpPr/>
          <p:nvPr/>
        </p:nvSpPr>
        <p:spPr>
          <a:xfrm>
            <a:off x="6072188" y="3081077"/>
            <a:ext cx="35719" cy="539353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50" name="Text 47"/>
          <p:cNvSpPr/>
          <p:nvPr/>
        </p:nvSpPr>
        <p:spPr>
          <a:xfrm>
            <a:off x="6157913" y="3166802"/>
            <a:ext cx="247173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8B2AC"/>
                </a:solidFill>
              </a:rPr>
              <a:t>⚡ Actual Time:</a:t>
            </a:r>
            <a:endParaRPr lang="en-US" sz="634" dirty="0"/>
          </a:p>
        </p:txBody>
      </p:sp>
      <p:sp>
        <p:nvSpPr>
          <p:cNvPr id="51" name="Text 48"/>
          <p:cNvSpPr/>
          <p:nvPr/>
        </p:nvSpPr>
        <p:spPr>
          <a:xfrm>
            <a:off x="6157913" y="3341824"/>
            <a:ext cx="247173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38B2AC"/>
                </a:solidFill>
              </a:rPr>
              <a:t>1 Day</a:t>
            </a:r>
            <a:endParaRPr lang="en-US" sz="885" dirty="0"/>
          </a:p>
        </p:txBody>
      </p:sp>
      <p:sp>
        <p:nvSpPr>
          <p:cNvPr id="52" name="Shape 49"/>
          <p:cNvSpPr/>
          <p:nvPr/>
        </p:nvSpPr>
        <p:spPr>
          <a:xfrm>
            <a:off x="428625" y="3964781"/>
            <a:ext cx="8286750" cy="821531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53" name="Shape 50"/>
          <p:cNvSpPr/>
          <p:nvPr/>
        </p:nvSpPr>
        <p:spPr>
          <a:xfrm>
            <a:off x="428625" y="3964781"/>
            <a:ext cx="42863" cy="821531"/>
          </a:xfrm>
          <a:prstGeom prst="rect">
            <a:avLst/>
          </a:prstGeom>
          <a:solidFill>
            <a:srgbClr val="D53F8C"/>
          </a:solidFill>
          <a:ln/>
        </p:spPr>
      </p:sp>
      <p:sp>
        <p:nvSpPr>
          <p:cNvPr id="54" name="Text 51"/>
          <p:cNvSpPr/>
          <p:nvPr/>
        </p:nvSpPr>
        <p:spPr>
          <a:xfrm>
            <a:off x="607219" y="4300538"/>
            <a:ext cx="41866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365D"/>
                </a:solidFill>
              </a:rPr>
              <a:t>Result:</a:t>
            </a:r>
            <a:endParaRPr lang="en-US" sz="683" dirty="0"/>
          </a:p>
        </p:txBody>
      </p:sp>
      <p:sp>
        <p:nvSpPr>
          <p:cNvPr id="55" name="Text 52"/>
          <p:cNvSpPr/>
          <p:nvPr/>
        </p:nvSpPr>
        <p:spPr>
          <a:xfrm>
            <a:off x="1324273" y="4143375"/>
            <a:ext cx="994544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D53F8C"/>
                </a:solidFill>
              </a:rPr>
              <a:t>2-3 Weeks</a:t>
            </a:r>
            <a:endParaRPr lang="en-US" sz="1397" dirty="0"/>
          </a:p>
        </p:txBody>
      </p:sp>
      <p:sp>
        <p:nvSpPr>
          <p:cNvPr id="56" name="Text 53"/>
          <p:cNvSpPr/>
          <p:nvPr/>
        </p:nvSpPr>
        <p:spPr>
          <a:xfrm>
            <a:off x="1240194" y="4479131"/>
            <a:ext cx="116270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Traditional Manual Approach</a:t>
            </a:r>
            <a:endParaRPr lang="en-US" sz="621" dirty="0"/>
          </a:p>
        </p:txBody>
      </p:sp>
      <p:sp>
        <p:nvSpPr>
          <p:cNvPr id="57" name="Text 54"/>
          <p:cNvSpPr/>
          <p:nvPr/>
        </p:nvSpPr>
        <p:spPr>
          <a:xfrm>
            <a:off x="2688645" y="4268391"/>
            <a:ext cx="15230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A365D"/>
                </a:solidFill>
              </a:rPr>
              <a:t>vs</a:t>
            </a:r>
            <a:endParaRPr lang="en-US" sz="987" dirty="0"/>
          </a:p>
        </p:txBody>
      </p:sp>
      <p:sp>
        <p:nvSpPr>
          <p:cNvPr id="58" name="Text 55"/>
          <p:cNvSpPr/>
          <p:nvPr/>
        </p:nvSpPr>
        <p:spPr>
          <a:xfrm>
            <a:off x="3251048" y="4143375"/>
            <a:ext cx="549092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38B2AC"/>
                </a:solidFill>
              </a:rPr>
              <a:t>1 Day</a:t>
            </a:r>
            <a:endParaRPr lang="en-US" sz="1397" dirty="0"/>
          </a:p>
        </p:txBody>
      </p:sp>
      <p:sp>
        <p:nvSpPr>
          <p:cNvPr id="59" name="Text 56"/>
          <p:cNvSpPr/>
          <p:nvPr/>
        </p:nvSpPr>
        <p:spPr>
          <a:xfrm>
            <a:off x="3126702" y="4479131"/>
            <a:ext cx="79778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AI-Assisted Solution</a:t>
            </a:r>
            <a:endParaRPr lang="en-US" sz="621" dirty="0"/>
          </a:p>
        </p:txBody>
      </p:sp>
      <p:sp>
        <p:nvSpPr>
          <p:cNvPr id="60" name="Text 57"/>
          <p:cNvSpPr/>
          <p:nvPr/>
        </p:nvSpPr>
        <p:spPr>
          <a:xfrm>
            <a:off x="6719534" y="4225528"/>
            <a:ext cx="1817247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38B2AC"/>
                </a:solidFill>
              </a:rPr>
              <a:t>✓ All 61 workflows correctly mapped</a:t>
            </a:r>
            <a:pPr algn="r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D3748"/>
                </a:solidFill>
              </a:rPr>
              <a:t>
</a:t>
            </a:r>
            <a:pPr algn="r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38B2AC"/>
                </a:solidFill>
              </a:rPr>
              <a:t>✓ No manual data entry required</a:t>
            </a:r>
            <a:endParaRPr lang="en-US" sz="683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6500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1A365D"/>
                </a:solidFill>
              </a:rPr>
              <a:t>The Results - By The Numbers: Measurable Impact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950119"/>
            <a:ext cx="2619356" cy="242888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365D"/>
                </a:solidFill>
              </a:rPr>
              <a:t>Coverage Achieved</a:t>
            </a:r>
            <a:endParaRPr lang="en-US" sz="683" dirty="0"/>
          </a:p>
        </p:txBody>
      </p:sp>
      <p:sp>
        <p:nvSpPr>
          <p:cNvPr id="5" name="Shape 2"/>
          <p:cNvSpPr/>
          <p:nvPr/>
        </p:nvSpPr>
        <p:spPr>
          <a:xfrm>
            <a:off x="428625" y="1300163"/>
            <a:ext cx="2619356" cy="328613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1300163"/>
            <a:ext cx="28575" cy="328613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7" name="Text 4"/>
          <p:cNvSpPr/>
          <p:nvPr/>
        </p:nvSpPr>
        <p:spPr>
          <a:xfrm>
            <a:off x="500063" y="1385888"/>
            <a:ext cx="1428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8B2AC"/>
                </a:solidFill>
              </a:rPr>
              <a:t>✓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728663" y="1371600"/>
            <a:ext cx="1636198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D53F8C"/>
                </a:solidFill>
              </a:rPr>
              <a:t>6/6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 payment types automated (100%)</a:t>
            </a:r>
            <a:endParaRPr lang="en-US" sz="634" dirty="0"/>
          </a:p>
        </p:txBody>
      </p:sp>
      <p:sp>
        <p:nvSpPr>
          <p:cNvPr id="9" name="Shape 6"/>
          <p:cNvSpPr/>
          <p:nvPr/>
        </p:nvSpPr>
        <p:spPr>
          <a:xfrm>
            <a:off x="428625" y="1714500"/>
            <a:ext cx="2619356" cy="328613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0" name="Shape 7"/>
          <p:cNvSpPr/>
          <p:nvPr/>
        </p:nvSpPr>
        <p:spPr>
          <a:xfrm>
            <a:off x="428625" y="1714500"/>
            <a:ext cx="28575" cy="328613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11" name="Text 8"/>
          <p:cNvSpPr/>
          <p:nvPr/>
        </p:nvSpPr>
        <p:spPr>
          <a:xfrm>
            <a:off x="500063" y="1800225"/>
            <a:ext cx="1428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8B2AC"/>
                </a:solidFill>
              </a:rPr>
              <a:t>✓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728663" y="1785938"/>
            <a:ext cx="1903391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D53F8C"/>
                </a:solidFill>
              </a:rPr>
              <a:t>276/276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 rejection scenarios mapped (100%)</a:t>
            </a:r>
            <a:endParaRPr lang="en-US" sz="634" dirty="0"/>
          </a:p>
        </p:txBody>
      </p:sp>
      <p:sp>
        <p:nvSpPr>
          <p:cNvPr id="13" name="Shape 10"/>
          <p:cNvSpPr/>
          <p:nvPr/>
        </p:nvSpPr>
        <p:spPr>
          <a:xfrm>
            <a:off x="428625" y="2128838"/>
            <a:ext cx="2619356" cy="328613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4" name="Shape 11"/>
          <p:cNvSpPr/>
          <p:nvPr/>
        </p:nvSpPr>
        <p:spPr>
          <a:xfrm>
            <a:off x="428625" y="2128838"/>
            <a:ext cx="28575" cy="328613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15" name="Text 12"/>
          <p:cNvSpPr/>
          <p:nvPr/>
        </p:nvSpPr>
        <p:spPr>
          <a:xfrm>
            <a:off x="500063" y="2214563"/>
            <a:ext cx="1428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8B2AC"/>
                </a:solidFill>
              </a:rPr>
              <a:t>✓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728663" y="2200275"/>
            <a:ext cx="1809378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D53F8C"/>
                </a:solidFill>
              </a:rPr>
              <a:t>61/61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 approval workflows covered (100%)</a:t>
            </a:r>
            <a:endParaRPr lang="en-US" sz="634" dirty="0"/>
          </a:p>
        </p:txBody>
      </p:sp>
      <p:sp>
        <p:nvSpPr>
          <p:cNvPr id="17" name="Shape 14"/>
          <p:cNvSpPr/>
          <p:nvPr/>
        </p:nvSpPr>
        <p:spPr>
          <a:xfrm>
            <a:off x="428625" y="2543175"/>
            <a:ext cx="2619356" cy="328613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8" name="Shape 15"/>
          <p:cNvSpPr/>
          <p:nvPr/>
        </p:nvSpPr>
        <p:spPr>
          <a:xfrm>
            <a:off x="428625" y="2543175"/>
            <a:ext cx="28575" cy="328613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19" name="Text 16"/>
          <p:cNvSpPr/>
          <p:nvPr/>
        </p:nvSpPr>
        <p:spPr>
          <a:xfrm>
            <a:off x="500063" y="2628900"/>
            <a:ext cx="1428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8B2AC"/>
                </a:solidFill>
              </a:rPr>
              <a:t>✓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728663" y="2614613"/>
            <a:ext cx="1520754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D53F8C"/>
                </a:solidFill>
              </a:rPr>
              <a:t>~112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 automated test cases created</a:t>
            </a:r>
            <a:endParaRPr lang="en-US" sz="634" dirty="0"/>
          </a:p>
        </p:txBody>
      </p:sp>
      <p:sp>
        <p:nvSpPr>
          <p:cNvPr id="21" name="Shape 18"/>
          <p:cNvSpPr/>
          <p:nvPr/>
        </p:nvSpPr>
        <p:spPr>
          <a:xfrm>
            <a:off x="428625" y="2957513"/>
            <a:ext cx="2619356" cy="328613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2" name="Shape 19"/>
          <p:cNvSpPr/>
          <p:nvPr/>
        </p:nvSpPr>
        <p:spPr>
          <a:xfrm>
            <a:off x="428625" y="2957513"/>
            <a:ext cx="28575" cy="328613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23" name="Text 20"/>
          <p:cNvSpPr/>
          <p:nvPr/>
        </p:nvSpPr>
        <p:spPr>
          <a:xfrm>
            <a:off x="500063" y="3043238"/>
            <a:ext cx="1428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8B2AC"/>
                </a:solidFill>
              </a:rPr>
              <a:t>✓</a:t>
            </a:r>
            <a:endParaRPr lang="en-US" sz="784" dirty="0"/>
          </a:p>
        </p:txBody>
      </p:sp>
      <p:sp>
        <p:nvSpPr>
          <p:cNvPr id="24" name="Text 21"/>
          <p:cNvSpPr/>
          <p:nvPr/>
        </p:nvSpPr>
        <p:spPr>
          <a:xfrm>
            <a:off x="728663" y="3028950"/>
            <a:ext cx="1422332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D53F8C"/>
                </a:solidFill>
              </a:rPr>
              <a:t>~4,700+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 lines of production code</a:t>
            </a:r>
            <a:endParaRPr lang="en-US" sz="634" dirty="0"/>
          </a:p>
        </p:txBody>
      </p:sp>
      <p:sp>
        <p:nvSpPr>
          <p:cNvPr id="25" name="Shape 22"/>
          <p:cNvSpPr/>
          <p:nvPr/>
        </p:nvSpPr>
        <p:spPr>
          <a:xfrm>
            <a:off x="428625" y="3371850"/>
            <a:ext cx="2619356" cy="328613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6" name="Shape 23"/>
          <p:cNvSpPr/>
          <p:nvPr/>
        </p:nvSpPr>
        <p:spPr>
          <a:xfrm>
            <a:off x="428625" y="3371850"/>
            <a:ext cx="28575" cy="328613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27" name="Text 24"/>
          <p:cNvSpPr/>
          <p:nvPr/>
        </p:nvSpPr>
        <p:spPr>
          <a:xfrm>
            <a:off x="500063" y="3457575"/>
            <a:ext cx="1428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8B2AC"/>
                </a:solidFill>
              </a:rPr>
              <a:t>✓</a:t>
            </a:r>
            <a:endParaRPr lang="en-US" sz="784" dirty="0"/>
          </a:p>
        </p:txBody>
      </p:sp>
      <p:sp>
        <p:nvSpPr>
          <p:cNvPr id="28" name="Text 25"/>
          <p:cNvSpPr/>
          <p:nvPr/>
        </p:nvSpPr>
        <p:spPr>
          <a:xfrm>
            <a:off x="728663" y="3443288"/>
            <a:ext cx="1676605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D53F8C"/>
                </a:solidFill>
              </a:rPr>
              <a:t>11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 PDF fields validated per submission</a:t>
            </a:r>
            <a:endParaRPr lang="en-US" sz="634" dirty="0"/>
          </a:p>
        </p:txBody>
      </p:sp>
      <p:sp>
        <p:nvSpPr>
          <p:cNvPr id="29" name="Shape 26"/>
          <p:cNvSpPr/>
          <p:nvPr/>
        </p:nvSpPr>
        <p:spPr>
          <a:xfrm>
            <a:off x="428625" y="3786188"/>
            <a:ext cx="2619356" cy="328613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0" name="Shape 27"/>
          <p:cNvSpPr/>
          <p:nvPr/>
        </p:nvSpPr>
        <p:spPr>
          <a:xfrm>
            <a:off x="428625" y="3786188"/>
            <a:ext cx="28575" cy="328613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31" name="Text 28"/>
          <p:cNvSpPr/>
          <p:nvPr/>
        </p:nvSpPr>
        <p:spPr>
          <a:xfrm>
            <a:off x="500063" y="3871913"/>
            <a:ext cx="1428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8B2AC"/>
                </a:solidFill>
              </a:rPr>
              <a:t>✓</a:t>
            </a:r>
            <a:endParaRPr lang="en-US" sz="784" dirty="0"/>
          </a:p>
        </p:txBody>
      </p:sp>
      <p:sp>
        <p:nvSpPr>
          <p:cNvPr id="32" name="Text 29"/>
          <p:cNvSpPr/>
          <p:nvPr/>
        </p:nvSpPr>
        <p:spPr>
          <a:xfrm>
            <a:off x="728663" y="3857625"/>
            <a:ext cx="1114732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D53F8C"/>
                </a:solidFill>
              </a:rPr>
              <a:t>100%</a:t>
            </a:r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 form field coverage</a:t>
            </a:r>
            <a:endParaRPr lang="en-US" sz="634" dirty="0"/>
          </a:p>
        </p:txBody>
      </p:sp>
      <p:sp>
        <p:nvSpPr>
          <p:cNvPr id="33" name="Text 30"/>
          <p:cNvSpPr/>
          <p:nvPr/>
        </p:nvSpPr>
        <p:spPr>
          <a:xfrm>
            <a:off x="3262294" y="950119"/>
            <a:ext cx="2619384" cy="242888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365D"/>
                </a:solidFill>
              </a:rPr>
              <a:t>Time Savings</a:t>
            </a:r>
            <a:endParaRPr lang="en-US" sz="683" dirty="0"/>
          </a:p>
        </p:txBody>
      </p:sp>
      <p:sp>
        <p:nvSpPr>
          <p:cNvPr id="34" name="Shape 31"/>
          <p:cNvSpPr/>
          <p:nvPr/>
        </p:nvSpPr>
        <p:spPr>
          <a:xfrm>
            <a:off x="3262294" y="1300163"/>
            <a:ext cx="2619384" cy="678656"/>
          </a:xfrm>
          <a:prstGeom prst="rect">
            <a:avLst/>
          </a:prstGeom>
          <a:solidFill>
            <a:srgbClr val="FEF5E7"/>
          </a:solidFill>
          <a:ln/>
        </p:spPr>
      </p:sp>
      <p:sp>
        <p:nvSpPr>
          <p:cNvPr id="35" name="Shape 32"/>
          <p:cNvSpPr/>
          <p:nvPr/>
        </p:nvSpPr>
        <p:spPr>
          <a:xfrm>
            <a:off x="3262294" y="1300163"/>
            <a:ext cx="35719" cy="678656"/>
          </a:xfrm>
          <a:prstGeom prst="rect">
            <a:avLst/>
          </a:prstGeom>
          <a:solidFill>
            <a:srgbClr val="D53F8C"/>
          </a:solidFill>
          <a:ln/>
        </p:spPr>
      </p:sp>
      <p:sp>
        <p:nvSpPr>
          <p:cNvPr id="36" name="Text 33"/>
          <p:cNvSpPr/>
          <p:nvPr/>
        </p:nvSpPr>
        <p:spPr>
          <a:xfrm>
            <a:off x="3405169" y="1443038"/>
            <a:ext cx="233363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Manual Testing</a:t>
            </a:r>
            <a:endParaRPr lang="en-US" sz="621" dirty="0"/>
          </a:p>
        </p:txBody>
      </p:sp>
      <p:sp>
        <p:nvSpPr>
          <p:cNvPr id="37" name="Text 34"/>
          <p:cNvSpPr/>
          <p:nvPr/>
        </p:nvSpPr>
        <p:spPr>
          <a:xfrm>
            <a:off x="3405169" y="1628775"/>
            <a:ext cx="233363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D53F8C"/>
                </a:solidFill>
              </a:rPr>
              <a:t>2-3 hours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 per payment type per cycle</a:t>
            </a:r>
            <a:endParaRPr lang="en-US" sz="683" dirty="0"/>
          </a:p>
        </p:txBody>
      </p:sp>
      <p:sp>
        <p:nvSpPr>
          <p:cNvPr id="38" name="Shape 35"/>
          <p:cNvSpPr/>
          <p:nvPr/>
        </p:nvSpPr>
        <p:spPr>
          <a:xfrm>
            <a:off x="3262294" y="2085975"/>
            <a:ext cx="2619384" cy="678656"/>
          </a:xfrm>
          <a:prstGeom prst="rect">
            <a:avLst/>
          </a:prstGeom>
          <a:solidFill>
            <a:srgbClr val="FEF5E7"/>
          </a:solidFill>
          <a:ln/>
        </p:spPr>
      </p:sp>
      <p:sp>
        <p:nvSpPr>
          <p:cNvPr id="39" name="Shape 36"/>
          <p:cNvSpPr/>
          <p:nvPr/>
        </p:nvSpPr>
        <p:spPr>
          <a:xfrm>
            <a:off x="3262294" y="2085975"/>
            <a:ext cx="35719" cy="678656"/>
          </a:xfrm>
          <a:prstGeom prst="rect">
            <a:avLst/>
          </a:prstGeom>
          <a:solidFill>
            <a:srgbClr val="D53F8C"/>
          </a:solidFill>
          <a:ln/>
        </p:spPr>
      </p:sp>
      <p:sp>
        <p:nvSpPr>
          <p:cNvPr id="40" name="Text 37"/>
          <p:cNvSpPr/>
          <p:nvPr/>
        </p:nvSpPr>
        <p:spPr>
          <a:xfrm>
            <a:off x="3405169" y="2228850"/>
            <a:ext cx="233363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Automated Testing</a:t>
            </a:r>
            <a:endParaRPr lang="en-US" sz="621" dirty="0"/>
          </a:p>
        </p:txBody>
      </p:sp>
      <p:sp>
        <p:nvSpPr>
          <p:cNvPr id="41" name="Text 38"/>
          <p:cNvSpPr/>
          <p:nvPr/>
        </p:nvSpPr>
        <p:spPr>
          <a:xfrm>
            <a:off x="3405169" y="2414588"/>
            <a:ext cx="233363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D53F8C"/>
                </a:solidFill>
              </a:rPr>
              <a:t>5-10 minutes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 per payment type</a:t>
            </a:r>
            <a:endParaRPr lang="en-US" sz="683" dirty="0"/>
          </a:p>
        </p:txBody>
      </p:sp>
      <p:sp>
        <p:nvSpPr>
          <p:cNvPr id="42" name="Shape 39"/>
          <p:cNvSpPr/>
          <p:nvPr/>
        </p:nvSpPr>
        <p:spPr>
          <a:xfrm>
            <a:off x="3262294" y="2871788"/>
            <a:ext cx="2619384" cy="857250"/>
          </a:xfrm>
          <a:prstGeom prst="rect">
            <a:avLst/>
          </a:prstGeom>
          <a:solidFill>
            <a:srgbClr val="D53F8C"/>
          </a:solidFill>
          <a:ln/>
        </p:spPr>
      </p:sp>
      <p:sp>
        <p:nvSpPr>
          <p:cNvPr id="43" name="Text 40"/>
          <p:cNvSpPr/>
          <p:nvPr/>
        </p:nvSpPr>
        <p:spPr>
          <a:xfrm>
            <a:off x="3405169" y="3014663"/>
            <a:ext cx="233363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FFFFFF"/>
                </a:solidFill>
              </a:rPr>
              <a:t>Time Reduction</a:t>
            </a:r>
            <a:endParaRPr lang="en-US" sz="621" dirty="0"/>
          </a:p>
        </p:txBody>
      </p:sp>
      <p:sp>
        <p:nvSpPr>
          <p:cNvPr id="44" name="Text 41"/>
          <p:cNvSpPr/>
          <p:nvPr/>
        </p:nvSpPr>
        <p:spPr>
          <a:xfrm>
            <a:off x="3405169" y="3214688"/>
            <a:ext cx="2333634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90-95%</a:t>
            </a:r>
            <a:endParaRPr lang="en-US" sz="1397" dirty="0"/>
          </a:p>
        </p:txBody>
      </p:sp>
      <p:sp>
        <p:nvSpPr>
          <p:cNvPr id="45" name="Shape 42"/>
          <p:cNvSpPr/>
          <p:nvPr/>
        </p:nvSpPr>
        <p:spPr>
          <a:xfrm>
            <a:off x="3262294" y="3836194"/>
            <a:ext cx="2619384" cy="678656"/>
          </a:xfrm>
          <a:prstGeom prst="rect">
            <a:avLst/>
          </a:prstGeom>
          <a:solidFill>
            <a:srgbClr val="FEF5E7"/>
          </a:solidFill>
          <a:ln/>
        </p:spPr>
      </p:sp>
      <p:sp>
        <p:nvSpPr>
          <p:cNvPr id="46" name="Shape 43"/>
          <p:cNvSpPr/>
          <p:nvPr/>
        </p:nvSpPr>
        <p:spPr>
          <a:xfrm>
            <a:off x="3262294" y="3836194"/>
            <a:ext cx="35719" cy="678656"/>
          </a:xfrm>
          <a:prstGeom prst="rect">
            <a:avLst/>
          </a:prstGeom>
          <a:solidFill>
            <a:srgbClr val="D53F8C"/>
          </a:solidFill>
          <a:ln/>
        </p:spPr>
      </p:sp>
      <p:sp>
        <p:nvSpPr>
          <p:cNvPr id="47" name="Text 44"/>
          <p:cNvSpPr/>
          <p:nvPr/>
        </p:nvSpPr>
        <p:spPr>
          <a:xfrm>
            <a:off x="3405169" y="3979069"/>
            <a:ext cx="233363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Scenario Mapping</a:t>
            </a:r>
            <a:endParaRPr lang="en-US" sz="621" dirty="0"/>
          </a:p>
        </p:txBody>
      </p:sp>
      <p:sp>
        <p:nvSpPr>
          <p:cNvPr id="48" name="Text 45"/>
          <p:cNvSpPr/>
          <p:nvPr/>
        </p:nvSpPr>
        <p:spPr>
          <a:xfrm>
            <a:off x="3405169" y="4164806"/>
            <a:ext cx="233363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D53F8C"/>
                </a:solidFill>
              </a:rPr>
              <a:t>Weeks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 → </a:t>
            </a:r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D53F8C"/>
                </a:solidFill>
              </a:rPr>
              <a:t>2-3 days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 with AI</a:t>
            </a:r>
            <a:endParaRPr lang="en-US" sz="683" dirty="0"/>
          </a:p>
        </p:txBody>
      </p:sp>
      <p:sp>
        <p:nvSpPr>
          <p:cNvPr id="49" name="Shape 46"/>
          <p:cNvSpPr/>
          <p:nvPr/>
        </p:nvSpPr>
        <p:spPr>
          <a:xfrm>
            <a:off x="3262294" y="4622006"/>
            <a:ext cx="2619384" cy="678656"/>
          </a:xfrm>
          <a:prstGeom prst="rect">
            <a:avLst/>
          </a:prstGeom>
          <a:solidFill>
            <a:srgbClr val="FEF5E7"/>
          </a:solidFill>
          <a:ln/>
        </p:spPr>
      </p:sp>
      <p:sp>
        <p:nvSpPr>
          <p:cNvPr id="50" name="Shape 47"/>
          <p:cNvSpPr/>
          <p:nvPr/>
        </p:nvSpPr>
        <p:spPr>
          <a:xfrm>
            <a:off x="3262294" y="4622006"/>
            <a:ext cx="35719" cy="678656"/>
          </a:xfrm>
          <a:prstGeom prst="rect">
            <a:avLst/>
          </a:prstGeom>
          <a:solidFill>
            <a:srgbClr val="D53F8C"/>
          </a:solidFill>
          <a:ln/>
        </p:spPr>
      </p:sp>
      <p:sp>
        <p:nvSpPr>
          <p:cNvPr id="51" name="Text 48"/>
          <p:cNvSpPr/>
          <p:nvPr/>
        </p:nvSpPr>
        <p:spPr>
          <a:xfrm>
            <a:off x="3405169" y="4764881"/>
            <a:ext cx="233363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Development Speed</a:t>
            </a:r>
            <a:endParaRPr lang="en-US" sz="621" dirty="0"/>
          </a:p>
        </p:txBody>
      </p:sp>
      <p:sp>
        <p:nvSpPr>
          <p:cNvPr id="52" name="Text 49"/>
          <p:cNvSpPr/>
          <p:nvPr/>
        </p:nvSpPr>
        <p:spPr>
          <a:xfrm>
            <a:off x="3405169" y="4950619"/>
            <a:ext cx="233363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D53F8C"/>
                </a:solidFill>
              </a:rPr>
              <a:t>60-70%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 faster with AI assistance</a:t>
            </a:r>
            <a:endParaRPr lang="en-US" sz="683" dirty="0"/>
          </a:p>
        </p:txBody>
      </p:sp>
      <p:sp>
        <p:nvSpPr>
          <p:cNvPr id="53" name="Text 50"/>
          <p:cNvSpPr/>
          <p:nvPr/>
        </p:nvSpPr>
        <p:spPr>
          <a:xfrm>
            <a:off x="6095991" y="950119"/>
            <a:ext cx="2619356" cy="242888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365D"/>
                </a:solidFill>
              </a:rPr>
              <a:t>Quality Improvements</a:t>
            </a:r>
            <a:endParaRPr lang="en-US" sz="683" dirty="0"/>
          </a:p>
        </p:txBody>
      </p:sp>
      <p:sp>
        <p:nvSpPr>
          <p:cNvPr id="54" name="Text 51"/>
          <p:cNvSpPr/>
          <p:nvPr/>
        </p:nvSpPr>
        <p:spPr>
          <a:xfrm>
            <a:off x="6095991" y="1300163"/>
            <a:ext cx="2619356" cy="130011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Modular architecture (15+ reusable functions)</a:t>
            </a:r>
            <a:endParaRPr lang="en-US" sz="674" dirty="0"/>
          </a:p>
        </p:txBody>
      </p:sp>
      <p:sp>
        <p:nvSpPr>
          <p:cNvPr id="55" name="Text 52"/>
          <p:cNvSpPr/>
          <p:nvPr/>
        </p:nvSpPr>
        <p:spPr>
          <a:xfrm>
            <a:off x="6095991" y="1501611"/>
            <a:ext cx="2619356" cy="130011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3-tier error handling strategy</a:t>
            </a:r>
            <a:endParaRPr lang="en-US" sz="674" dirty="0"/>
          </a:p>
        </p:txBody>
      </p:sp>
      <p:sp>
        <p:nvSpPr>
          <p:cNvPr id="56" name="Text 53"/>
          <p:cNvSpPr/>
          <p:nvPr/>
        </p:nvSpPr>
        <p:spPr>
          <a:xfrm>
            <a:off x="6095991" y="1703059"/>
            <a:ext cx="2619356" cy="130011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Screenshot evidence for every test</a:t>
            </a:r>
            <a:endParaRPr lang="en-US" sz="674" dirty="0"/>
          </a:p>
        </p:txBody>
      </p:sp>
      <p:sp>
        <p:nvSpPr>
          <p:cNvPr id="57" name="Text 54"/>
          <p:cNvSpPr/>
          <p:nvPr/>
        </p:nvSpPr>
        <p:spPr>
          <a:xfrm>
            <a:off x="6095991" y="1904507"/>
            <a:ext cx="2619356" cy="130011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Comprehensive logging across all operations</a:t>
            </a:r>
            <a:endParaRPr lang="en-US" sz="674" dirty="0"/>
          </a:p>
        </p:txBody>
      </p:sp>
      <p:sp>
        <p:nvSpPr>
          <p:cNvPr id="58" name="Text 55"/>
          <p:cNvSpPr/>
          <p:nvPr/>
        </p:nvSpPr>
        <p:spPr>
          <a:xfrm>
            <a:off x="6095991" y="2105955"/>
            <a:ext cx="2619356" cy="130011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CSV reports with pass/fail indicators</a:t>
            </a:r>
            <a:endParaRPr lang="en-US" sz="674" dirty="0"/>
          </a:p>
        </p:txBody>
      </p:sp>
      <p:sp>
        <p:nvSpPr>
          <p:cNvPr id="59" name="Text 56"/>
          <p:cNvSpPr/>
          <p:nvPr/>
        </p:nvSpPr>
        <p:spPr>
          <a:xfrm>
            <a:off x="6095991" y="2307403"/>
            <a:ext cx="2619356" cy="130011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Multi-environment support (Dev/UAT)</a:t>
            </a:r>
            <a:endParaRPr lang="en-US" sz="674" dirty="0"/>
          </a:p>
        </p:txBody>
      </p:sp>
      <p:sp>
        <p:nvSpPr>
          <p:cNvPr id="60" name="Text 57"/>
          <p:cNvSpPr/>
          <p:nvPr/>
        </p:nvSpPr>
        <p:spPr>
          <a:xfrm>
            <a:off x="6095991" y="2508852"/>
            <a:ext cx="2619356" cy="130011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Production-ready code standards</a:t>
            </a:r>
            <a:endParaRPr lang="en-US" sz="674" dirty="0"/>
          </a:p>
        </p:txBody>
      </p:sp>
      <p:sp>
        <p:nvSpPr>
          <p:cNvPr id="61" name="Text 58"/>
          <p:cNvSpPr/>
          <p:nvPr/>
        </p:nvSpPr>
        <p:spPr>
          <a:xfrm>
            <a:off x="6095991" y="2710300"/>
            <a:ext cx="2619356" cy="130011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Automated test data management</a:t>
            </a:r>
            <a:endParaRPr lang="en-US" sz="674" dirty="0"/>
          </a:p>
        </p:txBody>
      </p:sp>
      <p:sp>
        <p:nvSpPr>
          <p:cNvPr id="62" name="Text 59"/>
          <p:cNvSpPr/>
          <p:nvPr/>
        </p:nvSpPr>
        <p:spPr>
          <a:xfrm>
            <a:off x="6095991" y="2911748"/>
            <a:ext cx="2619356" cy="130011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Consistent naming conventions</a:t>
            </a:r>
            <a:endParaRPr lang="en-US" sz="674" dirty="0"/>
          </a:p>
        </p:txBody>
      </p:sp>
      <p:sp>
        <p:nvSpPr>
          <p:cNvPr id="63" name="Text 60"/>
          <p:cNvSpPr/>
          <p:nvPr/>
        </p:nvSpPr>
        <p:spPr>
          <a:xfrm>
            <a:off x="6095991" y="3113196"/>
            <a:ext cx="2619356" cy="130011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Self-documenting code structure</a:t>
            </a:r>
            <a:endParaRPr lang="en-US" sz="674" dirty="0"/>
          </a:p>
        </p:txBody>
      </p:sp>
      <p:pic>
        <p:nvPicPr>
          <p:cNvPr id="64" name="Image 1" descr="preencoded.png">    </p:cNvPr>
          <p:cNvPicPr>
            <a:picLocks noChangeAspect="1"/>
          </p:cNvPicPr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6286500" y="3621881"/>
            <a:ext cx="2857500" cy="2143125"/>
          </a:xfrm>
          <a:prstGeom prst="rect">
            <a:avLst/>
          </a:prstGeom>
        </p:spPr>
      </p:pic>
      <p:sp>
        <p:nvSpPr>
          <p:cNvPr id="65" name="Text 61"/>
          <p:cNvSpPr/>
          <p:nvPr/>
        </p:nvSpPr>
        <p:spPr>
          <a:xfrm>
            <a:off x="6095991" y="1300163"/>
            <a:ext cx="7143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38B2AC"/>
                </a:solidFill>
              </a:rPr>
              <a:t>◆</a:t>
            </a:r>
            <a:endParaRPr lang="en-US" sz="516" dirty="0"/>
          </a:p>
        </p:txBody>
      </p:sp>
      <p:sp>
        <p:nvSpPr>
          <p:cNvPr id="66" name="Text 62"/>
          <p:cNvSpPr/>
          <p:nvPr/>
        </p:nvSpPr>
        <p:spPr>
          <a:xfrm>
            <a:off x="6095991" y="1501611"/>
            <a:ext cx="7143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38B2AC"/>
                </a:solidFill>
              </a:rPr>
              <a:t>◆</a:t>
            </a:r>
            <a:endParaRPr lang="en-US" sz="516" dirty="0"/>
          </a:p>
        </p:txBody>
      </p:sp>
      <p:sp>
        <p:nvSpPr>
          <p:cNvPr id="67" name="Text 63"/>
          <p:cNvSpPr/>
          <p:nvPr/>
        </p:nvSpPr>
        <p:spPr>
          <a:xfrm>
            <a:off x="6095991" y="1703059"/>
            <a:ext cx="7143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38B2AC"/>
                </a:solidFill>
              </a:rPr>
              <a:t>◆</a:t>
            </a:r>
            <a:endParaRPr lang="en-US" sz="516" dirty="0"/>
          </a:p>
        </p:txBody>
      </p:sp>
      <p:sp>
        <p:nvSpPr>
          <p:cNvPr id="68" name="Text 64"/>
          <p:cNvSpPr/>
          <p:nvPr/>
        </p:nvSpPr>
        <p:spPr>
          <a:xfrm>
            <a:off x="6095991" y="1904507"/>
            <a:ext cx="7143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38B2AC"/>
                </a:solidFill>
              </a:rPr>
              <a:t>◆</a:t>
            </a:r>
            <a:endParaRPr lang="en-US" sz="516" dirty="0"/>
          </a:p>
        </p:txBody>
      </p:sp>
      <p:sp>
        <p:nvSpPr>
          <p:cNvPr id="69" name="Text 65"/>
          <p:cNvSpPr/>
          <p:nvPr/>
        </p:nvSpPr>
        <p:spPr>
          <a:xfrm>
            <a:off x="6095991" y="2105955"/>
            <a:ext cx="7143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38B2AC"/>
                </a:solidFill>
              </a:rPr>
              <a:t>◆</a:t>
            </a:r>
            <a:endParaRPr lang="en-US" sz="516" dirty="0"/>
          </a:p>
        </p:txBody>
      </p:sp>
      <p:sp>
        <p:nvSpPr>
          <p:cNvPr id="70" name="Text 66"/>
          <p:cNvSpPr/>
          <p:nvPr/>
        </p:nvSpPr>
        <p:spPr>
          <a:xfrm>
            <a:off x="6095991" y="2307403"/>
            <a:ext cx="7143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38B2AC"/>
                </a:solidFill>
              </a:rPr>
              <a:t>◆</a:t>
            </a:r>
            <a:endParaRPr lang="en-US" sz="516" dirty="0"/>
          </a:p>
        </p:txBody>
      </p:sp>
      <p:sp>
        <p:nvSpPr>
          <p:cNvPr id="71" name="Text 67"/>
          <p:cNvSpPr/>
          <p:nvPr/>
        </p:nvSpPr>
        <p:spPr>
          <a:xfrm>
            <a:off x="6095991" y="2508852"/>
            <a:ext cx="7143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38B2AC"/>
                </a:solidFill>
              </a:rPr>
              <a:t>◆</a:t>
            </a:r>
            <a:endParaRPr lang="en-US" sz="516" dirty="0"/>
          </a:p>
        </p:txBody>
      </p:sp>
      <p:sp>
        <p:nvSpPr>
          <p:cNvPr id="72" name="Text 68"/>
          <p:cNvSpPr/>
          <p:nvPr/>
        </p:nvSpPr>
        <p:spPr>
          <a:xfrm>
            <a:off x="6095991" y="2710300"/>
            <a:ext cx="7143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38B2AC"/>
                </a:solidFill>
              </a:rPr>
              <a:t>◆</a:t>
            </a:r>
            <a:endParaRPr lang="en-US" sz="516" dirty="0"/>
          </a:p>
        </p:txBody>
      </p:sp>
      <p:sp>
        <p:nvSpPr>
          <p:cNvPr id="73" name="Text 69"/>
          <p:cNvSpPr/>
          <p:nvPr/>
        </p:nvSpPr>
        <p:spPr>
          <a:xfrm>
            <a:off x="6095991" y="2911748"/>
            <a:ext cx="7143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38B2AC"/>
                </a:solidFill>
              </a:rPr>
              <a:t>◆</a:t>
            </a:r>
            <a:endParaRPr lang="en-US" sz="516" dirty="0"/>
          </a:p>
        </p:txBody>
      </p:sp>
      <p:sp>
        <p:nvSpPr>
          <p:cNvPr id="74" name="Text 70"/>
          <p:cNvSpPr/>
          <p:nvPr/>
        </p:nvSpPr>
        <p:spPr>
          <a:xfrm>
            <a:off x="6095991" y="3113196"/>
            <a:ext cx="7143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38B2AC"/>
                </a:solidFill>
              </a:rPr>
              <a:t>◆</a:t>
            </a:r>
            <a:endParaRPr lang="en-US" sz="516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1A365D"/>
                </a:solidFill>
              </a:rPr>
              <a:t>What Made This Work: Key Success Factors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428625" y="985838"/>
            <a:ext cx="285750" cy="285750"/>
          </a:xfrm>
          <a:prstGeom prst="ellipse">
            <a:avLst/>
          </a:prstGeom>
          <a:solidFill>
            <a:srgbClr val="D53F8C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985838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1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800100" y="1007994"/>
            <a:ext cx="841232" cy="241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1A365D"/>
                </a:solidFill>
              </a:rPr>
              <a:t>Iterative</a:t>
            </a:r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1A365D"/>
                </a:solidFill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1A365D"/>
                </a:solidFill>
              </a:rPr>
              <a:t>Collaboration</a:t>
            </a:r>
            <a:endParaRPr lang="en-US" sz="634" dirty="0"/>
          </a:p>
        </p:txBody>
      </p:sp>
      <p:sp>
        <p:nvSpPr>
          <p:cNvPr id="7" name="Shape 4"/>
          <p:cNvSpPr/>
          <p:nvPr/>
        </p:nvSpPr>
        <p:spPr>
          <a:xfrm>
            <a:off x="428625" y="1414463"/>
            <a:ext cx="1964531" cy="337185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8" name="Shape 5"/>
          <p:cNvSpPr/>
          <p:nvPr/>
        </p:nvSpPr>
        <p:spPr>
          <a:xfrm>
            <a:off x="428625" y="1414463"/>
            <a:ext cx="35719" cy="3371850"/>
          </a:xfrm>
          <a:prstGeom prst="rect">
            <a:avLst/>
          </a:prstGeom>
          <a:solidFill>
            <a:srgbClr val="D53F8C"/>
          </a:solidFill>
          <a:ln/>
        </p:spPr>
      </p:sp>
      <p:sp>
        <p:nvSpPr>
          <p:cNvPr id="9" name="Text 6"/>
          <p:cNvSpPr/>
          <p:nvPr/>
        </p:nvSpPr>
        <p:spPr>
          <a:xfrm>
            <a:off x="535781" y="1521619"/>
            <a:ext cx="175021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2D3748"/>
                </a:solidFill>
              </a:rPr>
              <a:t>Started small, learned continuously</a:t>
            </a:r>
            <a:endParaRPr lang="en-US" sz="584" dirty="0"/>
          </a:p>
        </p:txBody>
      </p:sp>
      <p:sp>
        <p:nvSpPr>
          <p:cNvPr id="10" name="Text 7"/>
          <p:cNvSpPr/>
          <p:nvPr/>
        </p:nvSpPr>
        <p:spPr>
          <a:xfrm>
            <a:off x="535781" y="1778794"/>
            <a:ext cx="1750219" cy="128588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Began with 1 payment type PoC</a:t>
            </a:r>
            <a:endParaRPr lang="en-US" sz="621" dirty="0"/>
          </a:p>
        </p:txBody>
      </p:sp>
      <p:sp>
        <p:nvSpPr>
          <p:cNvPr id="11" name="Text 8"/>
          <p:cNvSpPr/>
          <p:nvPr/>
        </p:nvSpPr>
        <p:spPr>
          <a:xfrm>
            <a:off x="535781" y="1978819"/>
            <a:ext cx="1750219" cy="128588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Learned from each iteration</a:t>
            </a:r>
            <a:endParaRPr lang="en-US" sz="621" dirty="0"/>
          </a:p>
        </p:txBody>
      </p:sp>
      <p:sp>
        <p:nvSpPr>
          <p:cNvPr id="12" name="Text 9"/>
          <p:cNvSpPr/>
          <p:nvPr/>
        </p:nvSpPr>
        <p:spPr>
          <a:xfrm>
            <a:off x="535781" y="2178844"/>
            <a:ext cx="1750219" cy="128588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AI spotted patterns humans missed</a:t>
            </a:r>
            <a:endParaRPr lang="en-US" sz="621" dirty="0"/>
          </a:p>
        </p:txBody>
      </p:sp>
      <p:sp>
        <p:nvSpPr>
          <p:cNvPr id="13" name="Text 10"/>
          <p:cNvSpPr/>
          <p:nvPr/>
        </p:nvSpPr>
        <p:spPr>
          <a:xfrm>
            <a:off x="535781" y="2378869"/>
            <a:ext cx="1750219" cy="128588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Continuous refinement improved 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quality</a:t>
            </a:r>
            <a:endParaRPr lang="en-US" sz="621" dirty="0"/>
          </a:p>
        </p:txBody>
      </p:sp>
      <p:sp>
        <p:nvSpPr>
          <p:cNvPr id="14" name="Text 11"/>
          <p:cNvSpPr/>
          <p:nvPr/>
        </p:nvSpPr>
        <p:spPr>
          <a:xfrm>
            <a:off x="535781" y="1778794"/>
            <a:ext cx="7858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D53F8C"/>
                </a:solidFill>
              </a:rPr>
              <a:t>→</a:t>
            </a:r>
            <a:endParaRPr lang="en-US" sz="534" dirty="0"/>
          </a:p>
        </p:txBody>
      </p:sp>
      <p:sp>
        <p:nvSpPr>
          <p:cNvPr id="15" name="Text 12"/>
          <p:cNvSpPr/>
          <p:nvPr/>
        </p:nvSpPr>
        <p:spPr>
          <a:xfrm>
            <a:off x="535781" y="1978819"/>
            <a:ext cx="7858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D53F8C"/>
                </a:solidFill>
              </a:rPr>
              <a:t>→</a:t>
            </a:r>
            <a:endParaRPr lang="en-US" sz="534" dirty="0"/>
          </a:p>
        </p:txBody>
      </p:sp>
      <p:sp>
        <p:nvSpPr>
          <p:cNvPr id="16" name="Text 13"/>
          <p:cNvSpPr/>
          <p:nvPr/>
        </p:nvSpPr>
        <p:spPr>
          <a:xfrm>
            <a:off x="535781" y="2178844"/>
            <a:ext cx="7858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D53F8C"/>
                </a:solidFill>
              </a:rPr>
              <a:t>→</a:t>
            </a:r>
            <a:endParaRPr lang="en-US" sz="534" dirty="0"/>
          </a:p>
        </p:txBody>
      </p:sp>
      <p:sp>
        <p:nvSpPr>
          <p:cNvPr id="17" name="Text 14"/>
          <p:cNvSpPr/>
          <p:nvPr/>
        </p:nvSpPr>
        <p:spPr>
          <a:xfrm>
            <a:off x="535781" y="2378869"/>
            <a:ext cx="7858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D53F8C"/>
                </a:solidFill>
              </a:rPr>
              <a:t>→</a:t>
            </a:r>
            <a:endParaRPr lang="en-US" sz="534" dirty="0"/>
          </a:p>
        </p:txBody>
      </p:sp>
      <p:sp>
        <p:nvSpPr>
          <p:cNvPr id="18" name="Shape 15"/>
          <p:cNvSpPr/>
          <p:nvPr/>
        </p:nvSpPr>
        <p:spPr>
          <a:xfrm>
            <a:off x="2536031" y="985838"/>
            <a:ext cx="285750" cy="285750"/>
          </a:xfrm>
          <a:prstGeom prst="ellipse">
            <a:avLst/>
          </a:prstGeom>
          <a:solidFill>
            <a:srgbClr val="D53F8C"/>
          </a:solidFill>
          <a:ln/>
        </p:spPr>
      </p:sp>
      <p:sp>
        <p:nvSpPr>
          <p:cNvPr id="19" name="Text 16"/>
          <p:cNvSpPr/>
          <p:nvPr/>
        </p:nvSpPr>
        <p:spPr>
          <a:xfrm>
            <a:off x="2536031" y="985838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2</a:t>
            </a:r>
            <a:endParaRPr lang="en-US" sz="885" dirty="0"/>
          </a:p>
        </p:txBody>
      </p:sp>
      <p:sp>
        <p:nvSpPr>
          <p:cNvPr id="20" name="Text 17"/>
          <p:cNvSpPr/>
          <p:nvPr/>
        </p:nvSpPr>
        <p:spPr>
          <a:xfrm>
            <a:off x="2907506" y="1007994"/>
            <a:ext cx="600410" cy="241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1A365D"/>
                </a:solidFill>
              </a:rPr>
              <a:t>AI as Force</a:t>
            </a:r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1A365D"/>
                </a:solidFill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1A365D"/>
                </a:solidFill>
              </a:rPr>
              <a:t>Multiplier</a:t>
            </a:r>
            <a:endParaRPr lang="en-US" sz="634" dirty="0"/>
          </a:p>
        </p:txBody>
      </p:sp>
      <p:sp>
        <p:nvSpPr>
          <p:cNvPr id="21" name="Shape 18"/>
          <p:cNvSpPr/>
          <p:nvPr/>
        </p:nvSpPr>
        <p:spPr>
          <a:xfrm>
            <a:off x="2536031" y="1414463"/>
            <a:ext cx="1964531" cy="337185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2" name="Shape 19"/>
          <p:cNvSpPr/>
          <p:nvPr/>
        </p:nvSpPr>
        <p:spPr>
          <a:xfrm>
            <a:off x="2536031" y="1414463"/>
            <a:ext cx="35719" cy="3371850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23" name="Text 20"/>
          <p:cNvSpPr/>
          <p:nvPr/>
        </p:nvSpPr>
        <p:spPr>
          <a:xfrm>
            <a:off x="2643188" y="1521619"/>
            <a:ext cx="175021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2D3748"/>
                </a:solidFill>
              </a:rPr>
              <a:t>Single developer achieved team-level output</a:t>
            </a:r>
            <a:endParaRPr lang="en-US" sz="584" dirty="0"/>
          </a:p>
        </p:txBody>
      </p:sp>
      <p:sp>
        <p:nvSpPr>
          <p:cNvPr id="24" name="Text 21"/>
          <p:cNvSpPr/>
          <p:nvPr/>
        </p:nvSpPr>
        <p:spPr>
          <a:xfrm>
            <a:off x="2643188" y="1907381"/>
            <a:ext cx="1750219" cy="257175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AI excellent at exhaustive scenario 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generation</a:t>
            </a:r>
            <a:endParaRPr lang="en-US" sz="621" dirty="0"/>
          </a:p>
        </p:txBody>
      </p:sp>
      <p:sp>
        <p:nvSpPr>
          <p:cNvPr id="25" name="Text 22"/>
          <p:cNvSpPr/>
          <p:nvPr/>
        </p:nvSpPr>
        <p:spPr>
          <a:xfrm>
            <a:off x="2643188" y="2235994"/>
            <a:ext cx="1750219" cy="257175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Human essential for business logic 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validation</a:t>
            </a:r>
            <a:endParaRPr lang="en-US" sz="621" dirty="0"/>
          </a:p>
        </p:txBody>
      </p:sp>
      <p:sp>
        <p:nvSpPr>
          <p:cNvPr id="26" name="Text 23"/>
          <p:cNvSpPr/>
          <p:nvPr/>
        </p:nvSpPr>
        <p:spPr>
          <a:xfrm>
            <a:off x="2643188" y="2564606"/>
            <a:ext cx="1750219" cy="257175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Combined strengths = better than 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either alone</a:t>
            </a:r>
            <a:endParaRPr lang="en-US" sz="621" dirty="0"/>
          </a:p>
        </p:txBody>
      </p:sp>
      <p:sp>
        <p:nvSpPr>
          <p:cNvPr id="27" name="Text 24"/>
          <p:cNvSpPr/>
          <p:nvPr/>
        </p:nvSpPr>
        <p:spPr>
          <a:xfrm>
            <a:off x="2643188" y="2893219"/>
            <a:ext cx="1750219" cy="128588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60-70% faster development</a:t>
            </a:r>
            <a:endParaRPr lang="en-US" sz="621" dirty="0"/>
          </a:p>
        </p:txBody>
      </p:sp>
      <p:sp>
        <p:nvSpPr>
          <p:cNvPr id="28" name="Text 25"/>
          <p:cNvSpPr/>
          <p:nvPr/>
        </p:nvSpPr>
        <p:spPr>
          <a:xfrm>
            <a:off x="2643188" y="1907381"/>
            <a:ext cx="7858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38B2AC"/>
                </a:solidFill>
              </a:rPr>
              <a:t>→</a:t>
            </a:r>
            <a:endParaRPr lang="en-US" sz="534" dirty="0"/>
          </a:p>
        </p:txBody>
      </p:sp>
      <p:sp>
        <p:nvSpPr>
          <p:cNvPr id="29" name="Text 26"/>
          <p:cNvSpPr/>
          <p:nvPr/>
        </p:nvSpPr>
        <p:spPr>
          <a:xfrm>
            <a:off x="2643188" y="2235994"/>
            <a:ext cx="7858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38B2AC"/>
                </a:solidFill>
              </a:rPr>
              <a:t>→</a:t>
            </a:r>
            <a:endParaRPr lang="en-US" sz="534" dirty="0"/>
          </a:p>
        </p:txBody>
      </p:sp>
      <p:sp>
        <p:nvSpPr>
          <p:cNvPr id="30" name="Text 27"/>
          <p:cNvSpPr/>
          <p:nvPr/>
        </p:nvSpPr>
        <p:spPr>
          <a:xfrm>
            <a:off x="2643188" y="2564606"/>
            <a:ext cx="7858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38B2AC"/>
                </a:solidFill>
              </a:rPr>
              <a:t>→</a:t>
            </a:r>
            <a:endParaRPr lang="en-US" sz="534" dirty="0"/>
          </a:p>
        </p:txBody>
      </p:sp>
      <p:sp>
        <p:nvSpPr>
          <p:cNvPr id="31" name="Text 28"/>
          <p:cNvSpPr/>
          <p:nvPr/>
        </p:nvSpPr>
        <p:spPr>
          <a:xfrm>
            <a:off x="2643188" y="2893219"/>
            <a:ext cx="7858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38B2AC"/>
                </a:solidFill>
              </a:rPr>
              <a:t>→</a:t>
            </a:r>
            <a:endParaRPr lang="en-US" sz="534" dirty="0"/>
          </a:p>
        </p:txBody>
      </p:sp>
      <p:sp>
        <p:nvSpPr>
          <p:cNvPr id="32" name="Shape 29"/>
          <p:cNvSpPr/>
          <p:nvPr/>
        </p:nvSpPr>
        <p:spPr>
          <a:xfrm>
            <a:off x="4643438" y="985838"/>
            <a:ext cx="285750" cy="285750"/>
          </a:xfrm>
          <a:prstGeom prst="ellipse">
            <a:avLst/>
          </a:prstGeom>
          <a:solidFill>
            <a:srgbClr val="D53F8C"/>
          </a:solidFill>
          <a:ln/>
        </p:spPr>
      </p:sp>
      <p:sp>
        <p:nvSpPr>
          <p:cNvPr id="33" name="Text 30"/>
          <p:cNvSpPr/>
          <p:nvPr/>
        </p:nvSpPr>
        <p:spPr>
          <a:xfrm>
            <a:off x="4643438" y="985838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3</a:t>
            </a:r>
            <a:endParaRPr lang="en-US" sz="885" dirty="0"/>
          </a:p>
        </p:txBody>
      </p:sp>
      <p:sp>
        <p:nvSpPr>
          <p:cNvPr id="34" name="Text 31"/>
          <p:cNvSpPr/>
          <p:nvPr/>
        </p:nvSpPr>
        <p:spPr>
          <a:xfrm>
            <a:off x="5014913" y="1007994"/>
            <a:ext cx="857948" cy="241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1A365D"/>
                </a:solidFill>
              </a:rPr>
              <a:t>Breaking Down</a:t>
            </a:r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1A365D"/>
                </a:solidFill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1A365D"/>
                </a:solidFill>
              </a:rPr>
              <a:t>Complexity</a:t>
            </a:r>
            <a:endParaRPr lang="en-US" sz="634" dirty="0"/>
          </a:p>
        </p:txBody>
      </p:sp>
      <p:sp>
        <p:nvSpPr>
          <p:cNvPr id="35" name="Shape 32"/>
          <p:cNvSpPr/>
          <p:nvPr/>
        </p:nvSpPr>
        <p:spPr>
          <a:xfrm>
            <a:off x="4643438" y="1414463"/>
            <a:ext cx="1964531" cy="337185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6" name="Shape 33"/>
          <p:cNvSpPr/>
          <p:nvPr/>
        </p:nvSpPr>
        <p:spPr>
          <a:xfrm>
            <a:off x="4643438" y="1414463"/>
            <a:ext cx="35719" cy="3371850"/>
          </a:xfrm>
          <a:prstGeom prst="rect">
            <a:avLst/>
          </a:prstGeom>
          <a:solidFill>
            <a:srgbClr val="D53F8C"/>
          </a:solidFill>
          <a:ln/>
        </p:spPr>
      </p:sp>
      <p:sp>
        <p:nvSpPr>
          <p:cNvPr id="37" name="Text 34"/>
          <p:cNvSpPr/>
          <p:nvPr/>
        </p:nvSpPr>
        <p:spPr>
          <a:xfrm>
            <a:off x="4750594" y="1521619"/>
            <a:ext cx="175021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2D3748"/>
                </a:solidFill>
              </a:rPr>
              <a:t>Divided into manageable phases</a:t>
            </a:r>
            <a:endParaRPr lang="en-US" sz="584" dirty="0"/>
          </a:p>
        </p:txBody>
      </p:sp>
      <p:sp>
        <p:nvSpPr>
          <p:cNvPr id="38" name="Text 35"/>
          <p:cNvSpPr/>
          <p:nvPr/>
        </p:nvSpPr>
        <p:spPr>
          <a:xfrm>
            <a:off x="4750594" y="1778794"/>
            <a:ext cx="1750219" cy="128588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Week 1-2: Map workflows with AI</a:t>
            </a:r>
            <a:endParaRPr lang="en-US" sz="621" dirty="0"/>
          </a:p>
        </p:txBody>
      </p:sp>
      <p:sp>
        <p:nvSpPr>
          <p:cNvPr id="39" name="Text 36"/>
          <p:cNvSpPr/>
          <p:nvPr/>
        </p:nvSpPr>
        <p:spPr>
          <a:xfrm>
            <a:off x="4750594" y="1978819"/>
            <a:ext cx="1750219" cy="128588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Week 3-4: Generate first test scripts</a:t>
            </a:r>
            <a:endParaRPr lang="en-US" sz="621" dirty="0"/>
          </a:p>
        </p:txBody>
      </p:sp>
      <p:sp>
        <p:nvSpPr>
          <p:cNvPr id="40" name="Text 37"/>
          <p:cNvSpPr/>
          <p:nvPr/>
        </p:nvSpPr>
        <p:spPr>
          <a:xfrm>
            <a:off x="4750594" y="2178844"/>
            <a:ext cx="1750219" cy="128588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Week 5-8: Scale to all payment types</a:t>
            </a:r>
            <a:endParaRPr lang="en-US" sz="621" dirty="0"/>
          </a:p>
        </p:txBody>
      </p:sp>
      <p:sp>
        <p:nvSpPr>
          <p:cNvPr id="41" name="Text 38"/>
          <p:cNvSpPr/>
          <p:nvPr/>
        </p:nvSpPr>
        <p:spPr>
          <a:xfrm>
            <a:off x="4750594" y="2378869"/>
            <a:ext cx="1750219" cy="128588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Week 9-10: Add advanced features</a:t>
            </a:r>
            <a:endParaRPr lang="en-US" sz="621" dirty="0"/>
          </a:p>
        </p:txBody>
      </p:sp>
      <p:sp>
        <p:nvSpPr>
          <p:cNvPr id="42" name="Text 39"/>
          <p:cNvSpPr/>
          <p:nvPr/>
        </p:nvSpPr>
        <p:spPr>
          <a:xfrm>
            <a:off x="4750594" y="2578894"/>
            <a:ext cx="1750219" cy="128588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Week 11-12: Documentation &amp; handoff</a:t>
            </a:r>
            <a:endParaRPr lang="en-US" sz="621" dirty="0"/>
          </a:p>
        </p:txBody>
      </p:sp>
      <p:sp>
        <p:nvSpPr>
          <p:cNvPr id="43" name="Text 40"/>
          <p:cNvSpPr/>
          <p:nvPr/>
        </p:nvSpPr>
        <p:spPr>
          <a:xfrm>
            <a:off x="4750594" y="1778794"/>
            <a:ext cx="7858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D53F8C"/>
                </a:solidFill>
              </a:rPr>
              <a:t>→</a:t>
            </a:r>
            <a:endParaRPr lang="en-US" sz="534" dirty="0"/>
          </a:p>
        </p:txBody>
      </p:sp>
      <p:sp>
        <p:nvSpPr>
          <p:cNvPr id="44" name="Text 41"/>
          <p:cNvSpPr/>
          <p:nvPr/>
        </p:nvSpPr>
        <p:spPr>
          <a:xfrm>
            <a:off x="4750594" y="1978819"/>
            <a:ext cx="7858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D53F8C"/>
                </a:solidFill>
              </a:rPr>
              <a:t>→</a:t>
            </a:r>
            <a:endParaRPr lang="en-US" sz="534" dirty="0"/>
          </a:p>
        </p:txBody>
      </p:sp>
      <p:sp>
        <p:nvSpPr>
          <p:cNvPr id="45" name="Text 42"/>
          <p:cNvSpPr/>
          <p:nvPr/>
        </p:nvSpPr>
        <p:spPr>
          <a:xfrm>
            <a:off x="4750594" y="2178844"/>
            <a:ext cx="7858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D53F8C"/>
                </a:solidFill>
              </a:rPr>
              <a:t>→</a:t>
            </a:r>
            <a:endParaRPr lang="en-US" sz="534" dirty="0"/>
          </a:p>
        </p:txBody>
      </p:sp>
      <p:sp>
        <p:nvSpPr>
          <p:cNvPr id="46" name="Text 43"/>
          <p:cNvSpPr/>
          <p:nvPr/>
        </p:nvSpPr>
        <p:spPr>
          <a:xfrm>
            <a:off x="4750594" y="2378869"/>
            <a:ext cx="7858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D53F8C"/>
                </a:solidFill>
              </a:rPr>
              <a:t>→</a:t>
            </a:r>
            <a:endParaRPr lang="en-US" sz="534" dirty="0"/>
          </a:p>
        </p:txBody>
      </p:sp>
      <p:sp>
        <p:nvSpPr>
          <p:cNvPr id="47" name="Text 44"/>
          <p:cNvSpPr/>
          <p:nvPr/>
        </p:nvSpPr>
        <p:spPr>
          <a:xfrm>
            <a:off x="4750594" y="2578894"/>
            <a:ext cx="7858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D53F8C"/>
                </a:solidFill>
              </a:rPr>
              <a:t>→</a:t>
            </a:r>
            <a:endParaRPr lang="en-US" sz="534" dirty="0"/>
          </a:p>
        </p:txBody>
      </p:sp>
      <p:sp>
        <p:nvSpPr>
          <p:cNvPr id="48" name="Shape 45"/>
          <p:cNvSpPr/>
          <p:nvPr/>
        </p:nvSpPr>
        <p:spPr>
          <a:xfrm>
            <a:off x="6750844" y="985838"/>
            <a:ext cx="285750" cy="285750"/>
          </a:xfrm>
          <a:prstGeom prst="ellipse">
            <a:avLst/>
          </a:prstGeom>
          <a:solidFill>
            <a:srgbClr val="D53F8C"/>
          </a:solidFill>
          <a:ln/>
        </p:spPr>
      </p:sp>
      <p:sp>
        <p:nvSpPr>
          <p:cNvPr id="49" name="Text 46"/>
          <p:cNvSpPr/>
          <p:nvPr/>
        </p:nvSpPr>
        <p:spPr>
          <a:xfrm>
            <a:off x="6750844" y="985838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4</a:t>
            </a:r>
            <a:endParaRPr lang="en-US" sz="885" dirty="0"/>
          </a:p>
        </p:txBody>
      </p:sp>
      <p:sp>
        <p:nvSpPr>
          <p:cNvPr id="50" name="Text 47"/>
          <p:cNvSpPr/>
          <p:nvPr/>
        </p:nvSpPr>
        <p:spPr>
          <a:xfrm>
            <a:off x="7122319" y="1007994"/>
            <a:ext cx="877705" cy="241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1A365D"/>
                </a:solidFill>
              </a:rPr>
              <a:t>Documentation</a:t>
            </a:r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1A365D"/>
                </a:solidFill>
              </a:rPr>
              <a:t>
</a:t>
            </a:r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1A365D"/>
                </a:solidFill>
              </a:rPr>
              <a:t>First</a:t>
            </a:r>
            <a:endParaRPr lang="en-US" sz="634" dirty="0"/>
          </a:p>
        </p:txBody>
      </p:sp>
      <p:sp>
        <p:nvSpPr>
          <p:cNvPr id="51" name="Shape 48"/>
          <p:cNvSpPr/>
          <p:nvPr/>
        </p:nvSpPr>
        <p:spPr>
          <a:xfrm>
            <a:off x="6750844" y="1414463"/>
            <a:ext cx="1964531" cy="337185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52" name="Shape 49"/>
          <p:cNvSpPr/>
          <p:nvPr/>
        </p:nvSpPr>
        <p:spPr>
          <a:xfrm>
            <a:off x="6750844" y="1414463"/>
            <a:ext cx="35719" cy="3371850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53" name="Text 50"/>
          <p:cNvSpPr/>
          <p:nvPr/>
        </p:nvSpPr>
        <p:spPr>
          <a:xfrm>
            <a:off x="6858000" y="1521619"/>
            <a:ext cx="175021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2D3748"/>
                </a:solidFill>
              </a:rPr>
              <a:t>Docs generated alongside code</a:t>
            </a:r>
            <a:endParaRPr lang="en-US" sz="584" dirty="0"/>
          </a:p>
        </p:txBody>
      </p:sp>
      <p:sp>
        <p:nvSpPr>
          <p:cNvPr id="54" name="Text 51"/>
          <p:cNvSpPr/>
          <p:nvPr/>
        </p:nvSpPr>
        <p:spPr>
          <a:xfrm>
            <a:off x="6858000" y="1778794"/>
            <a:ext cx="1750219" cy="128588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AI generated comprehensive docs</a:t>
            </a:r>
            <a:endParaRPr lang="en-US" sz="621" dirty="0"/>
          </a:p>
        </p:txBody>
      </p:sp>
      <p:sp>
        <p:nvSpPr>
          <p:cNvPr id="55" name="Text 52"/>
          <p:cNvSpPr/>
          <p:nvPr/>
        </p:nvSpPr>
        <p:spPr>
          <a:xfrm>
            <a:off x="6858000" y="1978819"/>
            <a:ext cx="1750219" cy="128588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Made project transferable to others</a:t>
            </a:r>
            <a:endParaRPr lang="en-US" sz="621" dirty="0"/>
          </a:p>
        </p:txBody>
      </p:sp>
      <p:sp>
        <p:nvSpPr>
          <p:cNvPr id="56" name="Text 53"/>
          <p:cNvSpPr/>
          <p:nvPr/>
        </p:nvSpPr>
        <p:spPr>
          <a:xfrm>
            <a:off x="6858000" y="2178844"/>
            <a:ext cx="1750219" cy="128588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Reduced onboarding time significantly</a:t>
            </a:r>
            <a:endParaRPr lang="en-US" sz="621" dirty="0"/>
          </a:p>
        </p:txBody>
      </p:sp>
      <p:sp>
        <p:nvSpPr>
          <p:cNvPr id="57" name="Text 54"/>
          <p:cNvSpPr/>
          <p:nvPr/>
        </p:nvSpPr>
        <p:spPr>
          <a:xfrm>
            <a:off x="6858000" y="2378869"/>
            <a:ext cx="1750219" cy="128588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Future-proofed the solution</a:t>
            </a:r>
            <a:endParaRPr lang="en-US" sz="621" dirty="0"/>
          </a:p>
        </p:txBody>
      </p:sp>
      <p:sp>
        <p:nvSpPr>
          <p:cNvPr id="58" name="Text 55"/>
          <p:cNvSpPr/>
          <p:nvPr/>
        </p:nvSpPr>
        <p:spPr>
          <a:xfrm>
            <a:off x="6858000" y="1778794"/>
            <a:ext cx="7858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38B2AC"/>
                </a:solidFill>
              </a:rPr>
              <a:t>→</a:t>
            </a:r>
            <a:endParaRPr lang="en-US" sz="534" dirty="0"/>
          </a:p>
        </p:txBody>
      </p:sp>
      <p:sp>
        <p:nvSpPr>
          <p:cNvPr id="59" name="Text 56"/>
          <p:cNvSpPr/>
          <p:nvPr/>
        </p:nvSpPr>
        <p:spPr>
          <a:xfrm>
            <a:off x="6858000" y="1978819"/>
            <a:ext cx="7858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38B2AC"/>
                </a:solidFill>
              </a:rPr>
              <a:t>→</a:t>
            </a:r>
            <a:endParaRPr lang="en-US" sz="534" dirty="0"/>
          </a:p>
        </p:txBody>
      </p:sp>
      <p:sp>
        <p:nvSpPr>
          <p:cNvPr id="60" name="Text 57"/>
          <p:cNvSpPr/>
          <p:nvPr/>
        </p:nvSpPr>
        <p:spPr>
          <a:xfrm>
            <a:off x="6858000" y="2178844"/>
            <a:ext cx="7858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38B2AC"/>
                </a:solidFill>
              </a:rPr>
              <a:t>→</a:t>
            </a:r>
            <a:endParaRPr lang="en-US" sz="534" dirty="0"/>
          </a:p>
        </p:txBody>
      </p:sp>
      <p:sp>
        <p:nvSpPr>
          <p:cNvPr id="61" name="Text 58"/>
          <p:cNvSpPr/>
          <p:nvPr/>
        </p:nvSpPr>
        <p:spPr>
          <a:xfrm>
            <a:off x="6858000" y="2378869"/>
            <a:ext cx="7858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38B2AC"/>
                </a:solidFill>
              </a:rPr>
              <a:t>→</a:t>
            </a:r>
            <a:endParaRPr lang="en-US" sz="53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1A365D"/>
                </a:solidFill>
              </a:rPr>
              <a:t>Lessons Learned: What Worked, What Didn't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428625" y="985838"/>
            <a:ext cx="2643188" cy="310753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985838"/>
            <a:ext cx="2643188" cy="31075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✓ What Worked Well</a:t>
            </a:r>
            <a:endParaRPr lang="en-US" sz="634" dirty="0"/>
          </a:p>
        </p:txBody>
      </p:sp>
      <p:sp>
        <p:nvSpPr>
          <p:cNvPr id="6" name="Shape 3"/>
          <p:cNvSpPr/>
          <p:nvPr/>
        </p:nvSpPr>
        <p:spPr>
          <a:xfrm>
            <a:off x="428625" y="1403747"/>
            <a:ext cx="2643188" cy="310753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7" name="Shape 4"/>
          <p:cNvSpPr/>
          <p:nvPr/>
        </p:nvSpPr>
        <p:spPr>
          <a:xfrm>
            <a:off x="428625" y="1403747"/>
            <a:ext cx="35719" cy="310753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8" name="Text 5"/>
          <p:cNvSpPr/>
          <p:nvPr/>
        </p:nvSpPr>
        <p:spPr>
          <a:xfrm>
            <a:off x="428625" y="1403747"/>
            <a:ext cx="2643188" cy="31075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8B2AC"/>
                </a:solidFill>
              </a:rPr>
              <a:t>✓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Breaking complex problems into smaller pieces</a:t>
            </a:r>
            <a:endParaRPr lang="en-US" sz="634" dirty="0"/>
          </a:p>
        </p:txBody>
      </p:sp>
      <p:sp>
        <p:nvSpPr>
          <p:cNvPr id="9" name="Shape 6"/>
          <p:cNvSpPr/>
          <p:nvPr/>
        </p:nvSpPr>
        <p:spPr>
          <a:xfrm>
            <a:off x="428625" y="1800225"/>
            <a:ext cx="2643188" cy="310753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0" name="Shape 7"/>
          <p:cNvSpPr/>
          <p:nvPr/>
        </p:nvSpPr>
        <p:spPr>
          <a:xfrm>
            <a:off x="428625" y="1800225"/>
            <a:ext cx="35719" cy="310753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11" name="Text 8"/>
          <p:cNvSpPr/>
          <p:nvPr/>
        </p:nvSpPr>
        <p:spPr>
          <a:xfrm>
            <a:off x="428625" y="1800225"/>
            <a:ext cx="2643188" cy="31075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8B2AC"/>
                </a:solidFill>
              </a:rPr>
              <a:t>✓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Using AI to identify patterns across 61 workflows</a:t>
            </a:r>
            <a:endParaRPr lang="en-US" sz="634" dirty="0"/>
          </a:p>
        </p:txBody>
      </p:sp>
      <p:sp>
        <p:nvSpPr>
          <p:cNvPr id="12" name="Shape 9"/>
          <p:cNvSpPr/>
          <p:nvPr/>
        </p:nvSpPr>
        <p:spPr>
          <a:xfrm>
            <a:off x="428625" y="2196703"/>
            <a:ext cx="2643188" cy="310753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3" name="Shape 10"/>
          <p:cNvSpPr/>
          <p:nvPr/>
        </p:nvSpPr>
        <p:spPr>
          <a:xfrm>
            <a:off x="428625" y="2196703"/>
            <a:ext cx="35719" cy="310753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14" name="Text 11"/>
          <p:cNvSpPr/>
          <p:nvPr/>
        </p:nvSpPr>
        <p:spPr>
          <a:xfrm>
            <a:off x="428625" y="2196703"/>
            <a:ext cx="2643188" cy="31075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8B2AC"/>
                </a:solidFill>
              </a:rPr>
              <a:t>✓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Generating code AND documentation together</a:t>
            </a:r>
            <a:endParaRPr lang="en-US" sz="634" dirty="0"/>
          </a:p>
        </p:txBody>
      </p:sp>
      <p:sp>
        <p:nvSpPr>
          <p:cNvPr id="15" name="Shape 12"/>
          <p:cNvSpPr/>
          <p:nvPr/>
        </p:nvSpPr>
        <p:spPr>
          <a:xfrm>
            <a:off x="428625" y="2593181"/>
            <a:ext cx="2643188" cy="310753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6" name="Shape 13"/>
          <p:cNvSpPr/>
          <p:nvPr/>
        </p:nvSpPr>
        <p:spPr>
          <a:xfrm>
            <a:off x="428625" y="2593181"/>
            <a:ext cx="35719" cy="310753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17" name="Text 14"/>
          <p:cNvSpPr/>
          <p:nvPr/>
        </p:nvSpPr>
        <p:spPr>
          <a:xfrm>
            <a:off x="428625" y="2593181"/>
            <a:ext cx="2643188" cy="31075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8B2AC"/>
                </a:solidFill>
              </a:rPr>
              <a:t>✓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Validating AI outputs against known scenarios</a:t>
            </a:r>
            <a:endParaRPr lang="en-US" sz="634" dirty="0"/>
          </a:p>
        </p:txBody>
      </p:sp>
      <p:sp>
        <p:nvSpPr>
          <p:cNvPr id="18" name="Shape 15"/>
          <p:cNvSpPr/>
          <p:nvPr/>
        </p:nvSpPr>
        <p:spPr>
          <a:xfrm>
            <a:off x="428625" y="2989659"/>
            <a:ext cx="2643188" cy="310753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9" name="Shape 16"/>
          <p:cNvSpPr/>
          <p:nvPr/>
        </p:nvSpPr>
        <p:spPr>
          <a:xfrm>
            <a:off x="428625" y="2989659"/>
            <a:ext cx="35719" cy="310753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20" name="Text 17"/>
          <p:cNvSpPr/>
          <p:nvPr/>
        </p:nvSpPr>
        <p:spPr>
          <a:xfrm>
            <a:off x="428625" y="2989659"/>
            <a:ext cx="2643188" cy="31075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8B2AC"/>
                </a:solidFill>
              </a:rPr>
              <a:t>✓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Iterative refinement improved accuracy</a:t>
            </a:r>
            <a:endParaRPr lang="en-US" sz="634" dirty="0"/>
          </a:p>
        </p:txBody>
      </p:sp>
      <p:sp>
        <p:nvSpPr>
          <p:cNvPr id="21" name="Shape 18"/>
          <p:cNvSpPr/>
          <p:nvPr/>
        </p:nvSpPr>
        <p:spPr>
          <a:xfrm>
            <a:off x="428625" y="3386138"/>
            <a:ext cx="2643188" cy="310753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2" name="Shape 19"/>
          <p:cNvSpPr/>
          <p:nvPr/>
        </p:nvSpPr>
        <p:spPr>
          <a:xfrm>
            <a:off x="428625" y="3386138"/>
            <a:ext cx="35719" cy="310753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23" name="Text 20"/>
          <p:cNvSpPr/>
          <p:nvPr/>
        </p:nvSpPr>
        <p:spPr>
          <a:xfrm>
            <a:off x="428625" y="3386138"/>
            <a:ext cx="2643188" cy="31075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38B2AC"/>
                </a:solidFill>
              </a:rPr>
              <a:t>✓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Test data separation (config.py pattern)</a:t>
            </a:r>
            <a:endParaRPr lang="en-US" sz="634" dirty="0"/>
          </a:p>
        </p:txBody>
      </p:sp>
      <p:sp>
        <p:nvSpPr>
          <p:cNvPr id="24" name="Shape 21"/>
          <p:cNvSpPr/>
          <p:nvPr/>
        </p:nvSpPr>
        <p:spPr>
          <a:xfrm>
            <a:off x="3250406" y="985838"/>
            <a:ext cx="2643188" cy="310753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Text 22"/>
          <p:cNvSpPr/>
          <p:nvPr/>
        </p:nvSpPr>
        <p:spPr>
          <a:xfrm>
            <a:off x="3250406" y="985838"/>
            <a:ext cx="2643188" cy="31075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⚠ Challenges Overcome</a:t>
            </a:r>
            <a:endParaRPr lang="en-US" sz="634" dirty="0"/>
          </a:p>
        </p:txBody>
      </p:sp>
      <p:sp>
        <p:nvSpPr>
          <p:cNvPr id="26" name="Shape 23"/>
          <p:cNvSpPr/>
          <p:nvPr/>
        </p:nvSpPr>
        <p:spPr>
          <a:xfrm>
            <a:off x="3250406" y="1403747"/>
            <a:ext cx="2643188" cy="450056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7" name="Shape 24"/>
          <p:cNvSpPr/>
          <p:nvPr/>
        </p:nvSpPr>
        <p:spPr>
          <a:xfrm>
            <a:off x="3250406" y="1403747"/>
            <a:ext cx="35719" cy="45005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8" name="Text 25"/>
          <p:cNvSpPr/>
          <p:nvPr/>
        </p:nvSpPr>
        <p:spPr>
          <a:xfrm>
            <a:off x="3250406" y="1403747"/>
            <a:ext cx="2643188" cy="450056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D97706"/>
                </a:solidFill>
              </a:rPr>
              <a:t>⚠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AI initial code 70-80% correct (needed human 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refinement)</a:t>
            </a:r>
            <a:endParaRPr lang="en-US" sz="634" dirty="0"/>
          </a:p>
        </p:txBody>
      </p:sp>
      <p:sp>
        <p:nvSpPr>
          <p:cNvPr id="29" name="Shape 26"/>
          <p:cNvSpPr/>
          <p:nvPr/>
        </p:nvSpPr>
        <p:spPr>
          <a:xfrm>
            <a:off x="3250406" y="1939528"/>
            <a:ext cx="2643188" cy="310753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0" name="Shape 27"/>
          <p:cNvSpPr/>
          <p:nvPr/>
        </p:nvSpPr>
        <p:spPr>
          <a:xfrm>
            <a:off x="3250406" y="1939528"/>
            <a:ext cx="35719" cy="310753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1" name="Text 28"/>
          <p:cNvSpPr/>
          <p:nvPr/>
        </p:nvSpPr>
        <p:spPr>
          <a:xfrm>
            <a:off x="3250406" y="1939528"/>
            <a:ext cx="2643188" cy="31075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D97706"/>
                </a:solidFill>
              </a:rPr>
              <a:t>⚠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Dynamic form fields required smart waiting logic</a:t>
            </a:r>
            <a:endParaRPr lang="en-US" sz="634" dirty="0"/>
          </a:p>
        </p:txBody>
      </p:sp>
      <p:sp>
        <p:nvSpPr>
          <p:cNvPr id="32" name="Shape 29"/>
          <p:cNvSpPr/>
          <p:nvPr/>
        </p:nvSpPr>
        <p:spPr>
          <a:xfrm>
            <a:off x="3250406" y="2336006"/>
            <a:ext cx="2643188" cy="310753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3" name="Shape 30"/>
          <p:cNvSpPr/>
          <p:nvPr/>
        </p:nvSpPr>
        <p:spPr>
          <a:xfrm>
            <a:off x="3250406" y="2336006"/>
            <a:ext cx="35719" cy="310753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1"/>
          <p:cNvSpPr/>
          <p:nvPr/>
        </p:nvSpPr>
        <p:spPr>
          <a:xfrm>
            <a:off x="3250406" y="2336006"/>
            <a:ext cx="2643188" cy="31075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D97706"/>
                </a:solidFill>
              </a:rPr>
              <a:t>⚠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Email authentication needed workarounds</a:t>
            </a:r>
            <a:endParaRPr lang="en-US" sz="634" dirty="0"/>
          </a:p>
        </p:txBody>
      </p:sp>
      <p:sp>
        <p:nvSpPr>
          <p:cNvPr id="35" name="Shape 32"/>
          <p:cNvSpPr/>
          <p:nvPr/>
        </p:nvSpPr>
        <p:spPr>
          <a:xfrm>
            <a:off x="3250406" y="2732484"/>
            <a:ext cx="2643188" cy="310753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6" name="Shape 33"/>
          <p:cNvSpPr/>
          <p:nvPr/>
        </p:nvSpPr>
        <p:spPr>
          <a:xfrm>
            <a:off x="3250406" y="2732484"/>
            <a:ext cx="35719" cy="310753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7" name="Text 34"/>
          <p:cNvSpPr/>
          <p:nvPr/>
        </p:nvSpPr>
        <p:spPr>
          <a:xfrm>
            <a:off x="3250406" y="2732484"/>
            <a:ext cx="2643188" cy="31075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D97706"/>
                </a:solidFill>
              </a:rPr>
              <a:t>⚠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PDF validation evolved through 3 approaches</a:t>
            </a:r>
            <a:endParaRPr lang="en-US" sz="634" dirty="0"/>
          </a:p>
        </p:txBody>
      </p:sp>
      <p:sp>
        <p:nvSpPr>
          <p:cNvPr id="38" name="Shape 35"/>
          <p:cNvSpPr/>
          <p:nvPr/>
        </p:nvSpPr>
        <p:spPr>
          <a:xfrm>
            <a:off x="3250406" y="3128963"/>
            <a:ext cx="2643188" cy="310753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9" name="Shape 36"/>
          <p:cNvSpPr/>
          <p:nvPr/>
        </p:nvSpPr>
        <p:spPr>
          <a:xfrm>
            <a:off x="3250406" y="3128963"/>
            <a:ext cx="35719" cy="310753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0" name="Text 37"/>
          <p:cNvSpPr/>
          <p:nvPr/>
        </p:nvSpPr>
        <p:spPr>
          <a:xfrm>
            <a:off x="3250406" y="3128963"/>
            <a:ext cx="2643188" cy="31075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D97706"/>
                </a:solidFill>
              </a:rPr>
              <a:t>⚠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Cross-environment behavior differences</a:t>
            </a:r>
            <a:endParaRPr lang="en-US" sz="634" dirty="0"/>
          </a:p>
        </p:txBody>
      </p:sp>
      <p:sp>
        <p:nvSpPr>
          <p:cNvPr id="41" name="Shape 38"/>
          <p:cNvSpPr/>
          <p:nvPr/>
        </p:nvSpPr>
        <p:spPr>
          <a:xfrm>
            <a:off x="3250406" y="3525441"/>
            <a:ext cx="2643188" cy="310753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2" name="Shape 39"/>
          <p:cNvSpPr/>
          <p:nvPr/>
        </p:nvSpPr>
        <p:spPr>
          <a:xfrm>
            <a:off x="3250406" y="3525441"/>
            <a:ext cx="35719" cy="310753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3" name="Text 40"/>
          <p:cNvSpPr/>
          <p:nvPr/>
        </p:nvSpPr>
        <p:spPr>
          <a:xfrm>
            <a:off x="3250406" y="3525441"/>
            <a:ext cx="2643188" cy="31075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D97706"/>
                </a:solidFill>
              </a:rPr>
              <a:t>⚠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Selector changes required test maintenance</a:t>
            </a:r>
            <a:endParaRPr lang="en-US" sz="634" dirty="0"/>
          </a:p>
        </p:txBody>
      </p:sp>
      <p:sp>
        <p:nvSpPr>
          <p:cNvPr id="44" name="Shape 41"/>
          <p:cNvSpPr/>
          <p:nvPr/>
        </p:nvSpPr>
        <p:spPr>
          <a:xfrm>
            <a:off x="6072188" y="985838"/>
            <a:ext cx="2643188" cy="310753"/>
          </a:xfrm>
          <a:prstGeom prst="rect">
            <a:avLst/>
          </a:prstGeom>
          <a:solidFill>
            <a:srgbClr val="D53F8C"/>
          </a:solidFill>
          <a:ln/>
        </p:spPr>
      </p:sp>
      <p:sp>
        <p:nvSpPr>
          <p:cNvPr id="45" name="Text 42"/>
          <p:cNvSpPr/>
          <p:nvPr/>
        </p:nvSpPr>
        <p:spPr>
          <a:xfrm>
            <a:off x="6072188" y="985838"/>
            <a:ext cx="2643188" cy="31075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💡 Key Insights</a:t>
            </a:r>
            <a:endParaRPr lang="en-US" sz="634" dirty="0"/>
          </a:p>
        </p:txBody>
      </p:sp>
      <p:sp>
        <p:nvSpPr>
          <p:cNvPr id="46" name="Shape 43"/>
          <p:cNvSpPr/>
          <p:nvPr/>
        </p:nvSpPr>
        <p:spPr>
          <a:xfrm>
            <a:off x="6072188" y="1403747"/>
            <a:ext cx="2643188" cy="485775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7" name="Shape 44"/>
          <p:cNvSpPr/>
          <p:nvPr/>
        </p:nvSpPr>
        <p:spPr>
          <a:xfrm>
            <a:off x="6072188" y="1403747"/>
            <a:ext cx="35719" cy="485775"/>
          </a:xfrm>
          <a:prstGeom prst="rect">
            <a:avLst/>
          </a:prstGeom>
          <a:solidFill>
            <a:srgbClr val="D53F8C"/>
          </a:solidFill>
          <a:ln/>
        </p:spPr>
      </p:sp>
      <p:sp>
        <p:nvSpPr>
          <p:cNvPr id="48" name="Text 45"/>
          <p:cNvSpPr/>
          <p:nvPr/>
        </p:nvSpPr>
        <p:spPr>
          <a:xfrm>
            <a:off x="6179344" y="1489472"/>
            <a:ext cx="242887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65D"/>
                </a:solidFill>
              </a:rPr>
              <a:t>AI Accelerates, Humans Validate</a:t>
            </a:r>
            <a:endParaRPr lang="en-US" sz="634" dirty="0"/>
          </a:p>
        </p:txBody>
      </p:sp>
      <p:sp>
        <p:nvSpPr>
          <p:cNvPr id="49" name="Text 46"/>
          <p:cNvSpPr/>
          <p:nvPr/>
        </p:nvSpPr>
        <p:spPr>
          <a:xfrm>
            <a:off x="6179344" y="1678781"/>
            <a:ext cx="237161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60-70% faster development, but human oversight essential</a:t>
            </a:r>
            <a:endParaRPr lang="en-US" sz="621" dirty="0"/>
          </a:p>
        </p:txBody>
      </p:sp>
      <p:sp>
        <p:nvSpPr>
          <p:cNvPr id="50" name="Shape 47"/>
          <p:cNvSpPr/>
          <p:nvPr/>
        </p:nvSpPr>
        <p:spPr>
          <a:xfrm>
            <a:off x="6072188" y="1975247"/>
            <a:ext cx="2643188" cy="62507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51" name="Shape 48"/>
          <p:cNvSpPr/>
          <p:nvPr/>
        </p:nvSpPr>
        <p:spPr>
          <a:xfrm>
            <a:off x="6072188" y="1975247"/>
            <a:ext cx="35719" cy="625078"/>
          </a:xfrm>
          <a:prstGeom prst="rect">
            <a:avLst/>
          </a:prstGeom>
          <a:solidFill>
            <a:srgbClr val="D53F8C"/>
          </a:solidFill>
          <a:ln/>
        </p:spPr>
      </p:sp>
      <p:sp>
        <p:nvSpPr>
          <p:cNvPr id="52" name="Text 49"/>
          <p:cNvSpPr/>
          <p:nvPr/>
        </p:nvSpPr>
        <p:spPr>
          <a:xfrm>
            <a:off x="6179344" y="2060972"/>
            <a:ext cx="242887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65D"/>
                </a:solidFill>
              </a:rPr>
              <a:t>Documentation is Critical</a:t>
            </a:r>
            <a:endParaRPr lang="en-US" sz="634" dirty="0"/>
          </a:p>
        </p:txBody>
      </p:sp>
      <p:sp>
        <p:nvSpPr>
          <p:cNvPr id="53" name="Text 50"/>
          <p:cNvSpPr/>
          <p:nvPr/>
        </p:nvSpPr>
        <p:spPr>
          <a:xfrm>
            <a:off x="6179344" y="2250281"/>
            <a:ext cx="195035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AI-generated docs made project sustainable and</a:t>
            </a:r>
            <a:endParaRPr lang="en-US" sz="621" dirty="0"/>
          </a:p>
        </p:txBody>
      </p:sp>
      <p:sp>
        <p:nvSpPr>
          <p:cNvPr id="54" name="Text 51"/>
          <p:cNvSpPr/>
          <p:nvPr/>
        </p:nvSpPr>
        <p:spPr>
          <a:xfrm>
            <a:off x="6179344" y="2389584"/>
            <a:ext cx="48959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transferable</a:t>
            </a:r>
            <a:endParaRPr lang="en-US" sz="621" dirty="0"/>
          </a:p>
        </p:txBody>
      </p:sp>
      <p:sp>
        <p:nvSpPr>
          <p:cNvPr id="55" name="Shape 52"/>
          <p:cNvSpPr/>
          <p:nvPr/>
        </p:nvSpPr>
        <p:spPr>
          <a:xfrm>
            <a:off x="6072188" y="2686050"/>
            <a:ext cx="2643188" cy="62507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56" name="Shape 53"/>
          <p:cNvSpPr/>
          <p:nvPr/>
        </p:nvSpPr>
        <p:spPr>
          <a:xfrm>
            <a:off x="6072188" y="2686050"/>
            <a:ext cx="35719" cy="625078"/>
          </a:xfrm>
          <a:prstGeom prst="rect">
            <a:avLst/>
          </a:prstGeom>
          <a:solidFill>
            <a:srgbClr val="D53F8C"/>
          </a:solidFill>
          <a:ln/>
        </p:spPr>
      </p:sp>
      <p:sp>
        <p:nvSpPr>
          <p:cNvPr id="57" name="Text 54"/>
          <p:cNvSpPr/>
          <p:nvPr/>
        </p:nvSpPr>
        <p:spPr>
          <a:xfrm>
            <a:off x="6179344" y="2771775"/>
            <a:ext cx="242887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65D"/>
                </a:solidFill>
              </a:rPr>
              <a:t>Business Logic First</a:t>
            </a:r>
            <a:endParaRPr lang="en-US" sz="634" dirty="0"/>
          </a:p>
        </p:txBody>
      </p:sp>
      <p:sp>
        <p:nvSpPr>
          <p:cNvPr id="58" name="Text 55"/>
          <p:cNvSpPr/>
          <p:nvPr/>
        </p:nvSpPr>
        <p:spPr>
          <a:xfrm>
            <a:off x="6179344" y="2961084"/>
            <a:ext cx="233483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Understanding requirements deeply more important than</a:t>
            </a:r>
            <a:endParaRPr lang="en-US" sz="621" dirty="0"/>
          </a:p>
        </p:txBody>
      </p:sp>
      <p:sp>
        <p:nvSpPr>
          <p:cNvPr id="59" name="Text 56"/>
          <p:cNvSpPr/>
          <p:nvPr/>
        </p:nvSpPr>
        <p:spPr>
          <a:xfrm>
            <a:off x="6179344" y="3100388"/>
            <a:ext cx="53904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coding speed</a:t>
            </a:r>
            <a:endParaRPr lang="en-US" sz="621" dirty="0"/>
          </a:p>
        </p:txBody>
      </p:sp>
      <p:sp>
        <p:nvSpPr>
          <p:cNvPr id="60" name="Shape 57"/>
          <p:cNvSpPr/>
          <p:nvPr/>
        </p:nvSpPr>
        <p:spPr>
          <a:xfrm>
            <a:off x="6072188" y="3396853"/>
            <a:ext cx="2643188" cy="485775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61" name="Shape 58"/>
          <p:cNvSpPr/>
          <p:nvPr/>
        </p:nvSpPr>
        <p:spPr>
          <a:xfrm>
            <a:off x="6072188" y="3396853"/>
            <a:ext cx="35719" cy="485775"/>
          </a:xfrm>
          <a:prstGeom prst="rect">
            <a:avLst/>
          </a:prstGeom>
          <a:solidFill>
            <a:srgbClr val="D53F8C"/>
          </a:solidFill>
          <a:ln/>
        </p:spPr>
      </p:sp>
      <p:sp>
        <p:nvSpPr>
          <p:cNvPr id="62" name="Text 59"/>
          <p:cNvSpPr/>
          <p:nvPr/>
        </p:nvSpPr>
        <p:spPr>
          <a:xfrm>
            <a:off x="6179344" y="3482578"/>
            <a:ext cx="242887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65D"/>
                </a:solidFill>
              </a:rPr>
              <a:t>Continuous Improvement</a:t>
            </a:r>
            <a:endParaRPr lang="en-US" sz="634" dirty="0"/>
          </a:p>
        </p:txBody>
      </p:sp>
      <p:sp>
        <p:nvSpPr>
          <p:cNvPr id="63" name="Text 60"/>
          <p:cNvSpPr/>
          <p:nvPr/>
        </p:nvSpPr>
        <p:spPr>
          <a:xfrm>
            <a:off x="6179344" y="3671888"/>
            <a:ext cx="221919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Each payment type built on lessons from previous ones</a:t>
            </a:r>
            <a:endParaRPr lang="en-US" sz="621" dirty="0"/>
          </a:p>
        </p:txBody>
      </p:sp>
      <p:sp>
        <p:nvSpPr>
          <p:cNvPr id="64" name="Shape 61"/>
          <p:cNvSpPr/>
          <p:nvPr/>
        </p:nvSpPr>
        <p:spPr>
          <a:xfrm>
            <a:off x="6072188" y="3968353"/>
            <a:ext cx="2643188" cy="62507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65" name="Shape 62"/>
          <p:cNvSpPr/>
          <p:nvPr/>
        </p:nvSpPr>
        <p:spPr>
          <a:xfrm>
            <a:off x="6072188" y="3968353"/>
            <a:ext cx="35719" cy="625078"/>
          </a:xfrm>
          <a:prstGeom prst="rect">
            <a:avLst/>
          </a:prstGeom>
          <a:solidFill>
            <a:srgbClr val="D53F8C"/>
          </a:solidFill>
          <a:ln/>
        </p:spPr>
      </p:sp>
      <p:sp>
        <p:nvSpPr>
          <p:cNvPr id="66" name="Text 63"/>
          <p:cNvSpPr/>
          <p:nvPr/>
        </p:nvSpPr>
        <p:spPr>
          <a:xfrm>
            <a:off x="6179344" y="4054078"/>
            <a:ext cx="242887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65D"/>
                </a:solidFill>
              </a:rPr>
              <a:t>Think in Systems</a:t>
            </a:r>
            <a:endParaRPr lang="en-US" sz="634" dirty="0"/>
          </a:p>
        </p:txBody>
      </p:sp>
      <p:sp>
        <p:nvSpPr>
          <p:cNvPr id="67" name="Text 64"/>
          <p:cNvSpPr/>
          <p:nvPr/>
        </p:nvSpPr>
        <p:spPr>
          <a:xfrm>
            <a:off x="6179344" y="4243388"/>
            <a:ext cx="215532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AI helped structure as scalable system, not individual</a:t>
            </a:r>
            <a:endParaRPr lang="en-US" sz="621" dirty="0"/>
          </a:p>
        </p:txBody>
      </p:sp>
      <p:sp>
        <p:nvSpPr>
          <p:cNvPr id="68" name="Text 65"/>
          <p:cNvSpPr/>
          <p:nvPr/>
        </p:nvSpPr>
        <p:spPr>
          <a:xfrm>
            <a:off x="8334663" y="4243388"/>
            <a:ext cx="26448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scripts</a:t>
            </a:r>
            <a:endParaRPr lang="en-US" sz="62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61063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1A365D"/>
                </a:solidFill>
              </a:rPr>
              <a:t>Beyond Testing - The Big Picture: Why This Matters &amp; Where It Transfers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428625" y="950119"/>
            <a:ext cx="1935956" cy="1095784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950119"/>
            <a:ext cx="35719" cy="1095784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6" name="Text 3"/>
          <p:cNvSpPr/>
          <p:nvPr/>
        </p:nvSpPr>
        <p:spPr>
          <a:xfrm>
            <a:off x="557213" y="1078706"/>
            <a:ext cx="1678781" cy="221456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365D"/>
                </a:solidFill>
              </a:rPr>
              <a:t>Healthcare</a:t>
            </a:r>
            <a:endParaRPr lang="en-US" sz="683" dirty="0"/>
          </a:p>
        </p:txBody>
      </p:sp>
      <p:sp>
        <p:nvSpPr>
          <p:cNvPr id="7" name="Text 4"/>
          <p:cNvSpPr/>
          <p:nvPr/>
        </p:nvSpPr>
        <p:spPr>
          <a:xfrm>
            <a:off x="557213" y="1385888"/>
            <a:ext cx="1678781" cy="119993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Patient journey workflows</a:t>
            </a:r>
            <a:endParaRPr lang="en-US" sz="621" dirty="0"/>
          </a:p>
        </p:txBody>
      </p:sp>
      <p:sp>
        <p:nvSpPr>
          <p:cNvPr id="8" name="Text 5"/>
          <p:cNvSpPr/>
          <p:nvPr/>
        </p:nvSpPr>
        <p:spPr>
          <a:xfrm>
            <a:off x="557213" y="1591605"/>
            <a:ext cx="1678781" cy="119993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Treatment approval chains</a:t>
            </a:r>
            <a:endParaRPr lang="en-US" sz="621" dirty="0"/>
          </a:p>
        </p:txBody>
      </p:sp>
      <p:sp>
        <p:nvSpPr>
          <p:cNvPr id="9" name="Text 6"/>
          <p:cNvSpPr/>
          <p:nvPr/>
        </p:nvSpPr>
        <p:spPr>
          <a:xfrm>
            <a:off x="557213" y="1797323"/>
            <a:ext cx="1678781" cy="119993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Insurance authorization processes</a:t>
            </a:r>
            <a:endParaRPr lang="en-US" sz="621" dirty="0"/>
          </a:p>
        </p:txBody>
      </p:sp>
      <p:sp>
        <p:nvSpPr>
          <p:cNvPr id="10" name="Shape 7"/>
          <p:cNvSpPr/>
          <p:nvPr/>
        </p:nvSpPr>
        <p:spPr>
          <a:xfrm>
            <a:off x="2493169" y="950119"/>
            <a:ext cx="1935956" cy="1095784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1" name="Shape 8"/>
          <p:cNvSpPr/>
          <p:nvPr/>
        </p:nvSpPr>
        <p:spPr>
          <a:xfrm>
            <a:off x="2493169" y="950119"/>
            <a:ext cx="35719" cy="1095784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12" name="Text 9"/>
          <p:cNvSpPr/>
          <p:nvPr/>
        </p:nvSpPr>
        <p:spPr>
          <a:xfrm>
            <a:off x="557213" y="1385888"/>
            <a:ext cx="857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38B2AC"/>
                </a:solidFill>
              </a:rPr>
              <a:t>→</a:t>
            </a:r>
            <a:endParaRPr lang="en-US" sz="584" dirty="0"/>
          </a:p>
        </p:txBody>
      </p:sp>
      <p:sp>
        <p:nvSpPr>
          <p:cNvPr id="13" name="Text 10"/>
          <p:cNvSpPr/>
          <p:nvPr/>
        </p:nvSpPr>
        <p:spPr>
          <a:xfrm>
            <a:off x="557213" y="1591605"/>
            <a:ext cx="857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38B2AC"/>
                </a:solidFill>
              </a:rPr>
              <a:t>→</a:t>
            </a:r>
            <a:endParaRPr lang="en-US" sz="584" dirty="0"/>
          </a:p>
        </p:txBody>
      </p:sp>
      <p:sp>
        <p:nvSpPr>
          <p:cNvPr id="14" name="Text 11"/>
          <p:cNvSpPr/>
          <p:nvPr/>
        </p:nvSpPr>
        <p:spPr>
          <a:xfrm>
            <a:off x="557213" y="1797323"/>
            <a:ext cx="857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38B2AC"/>
                </a:solidFill>
              </a:rPr>
              <a:t>→</a:t>
            </a:r>
            <a:endParaRPr lang="en-US" sz="584" dirty="0"/>
          </a:p>
        </p:txBody>
      </p:sp>
      <p:sp>
        <p:nvSpPr>
          <p:cNvPr id="15" name="Text 12"/>
          <p:cNvSpPr/>
          <p:nvPr/>
        </p:nvSpPr>
        <p:spPr>
          <a:xfrm>
            <a:off x="2621756" y="1078706"/>
            <a:ext cx="1678781" cy="221456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365D"/>
                </a:solidFill>
              </a:rPr>
              <a:t>Financial Services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2621756" y="1385888"/>
            <a:ext cx="1678781" cy="119993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Loan approval hierarchies</a:t>
            </a:r>
            <a:endParaRPr lang="en-US" sz="621" dirty="0"/>
          </a:p>
        </p:txBody>
      </p:sp>
      <p:sp>
        <p:nvSpPr>
          <p:cNvPr id="17" name="Text 14"/>
          <p:cNvSpPr/>
          <p:nvPr/>
        </p:nvSpPr>
        <p:spPr>
          <a:xfrm>
            <a:off x="2621756" y="1591605"/>
            <a:ext cx="1678781" cy="119993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Transaction risk workflows</a:t>
            </a:r>
            <a:endParaRPr lang="en-US" sz="621" dirty="0"/>
          </a:p>
        </p:txBody>
      </p:sp>
      <p:sp>
        <p:nvSpPr>
          <p:cNvPr id="18" name="Text 15"/>
          <p:cNvSpPr/>
          <p:nvPr/>
        </p:nvSpPr>
        <p:spPr>
          <a:xfrm>
            <a:off x="2621756" y="1797323"/>
            <a:ext cx="1678781" cy="119993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Claims processing</a:t>
            </a:r>
            <a:endParaRPr lang="en-US" sz="621" dirty="0"/>
          </a:p>
        </p:txBody>
      </p:sp>
      <p:sp>
        <p:nvSpPr>
          <p:cNvPr id="19" name="Shape 16"/>
          <p:cNvSpPr/>
          <p:nvPr/>
        </p:nvSpPr>
        <p:spPr>
          <a:xfrm>
            <a:off x="428625" y="2174491"/>
            <a:ext cx="1935956" cy="1095784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0" name="Shape 17"/>
          <p:cNvSpPr/>
          <p:nvPr/>
        </p:nvSpPr>
        <p:spPr>
          <a:xfrm>
            <a:off x="428625" y="2174491"/>
            <a:ext cx="35719" cy="1095784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21" name="Text 18"/>
          <p:cNvSpPr/>
          <p:nvPr/>
        </p:nvSpPr>
        <p:spPr>
          <a:xfrm>
            <a:off x="2621756" y="1385888"/>
            <a:ext cx="857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38B2AC"/>
                </a:solidFill>
              </a:rPr>
              <a:t>→</a:t>
            </a:r>
            <a:endParaRPr lang="en-US" sz="584" dirty="0"/>
          </a:p>
        </p:txBody>
      </p:sp>
      <p:sp>
        <p:nvSpPr>
          <p:cNvPr id="22" name="Text 19"/>
          <p:cNvSpPr/>
          <p:nvPr/>
        </p:nvSpPr>
        <p:spPr>
          <a:xfrm>
            <a:off x="2621756" y="1591605"/>
            <a:ext cx="857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38B2AC"/>
                </a:solidFill>
              </a:rPr>
              <a:t>→</a:t>
            </a:r>
            <a:endParaRPr lang="en-US" sz="584" dirty="0"/>
          </a:p>
        </p:txBody>
      </p:sp>
      <p:sp>
        <p:nvSpPr>
          <p:cNvPr id="23" name="Text 20"/>
          <p:cNvSpPr/>
          <p:nvPr/>
        </p:nvSpPr>
        <p:spPr>
          <a:xfrm>
            <a:off x="2621756" y="1797323"/>
            <a:ext cx="857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38B2AC"/>
                </a:solidFill>
              </a:rPr>
              <a:t>→</a:t>
            </a:r>
            <a:endParaRPr lang="en-US" sz="584" dirty="0"/>
          </a:p>
        </p:txBody>
      </p:sp>
      <p:sp>
        <p:nvSpPr>
          <p:cNvPr id="24" name="Text 21"/>
          <p:cNvSpPr/>
          <p:nvPr/>
        </p:nvSpPr>
        <p:spPr>
          <a:xfrm>
            <a:off x="557213" y="2303078"/>
            <a:ext cx="1678781" cy="221456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365D"/>
                </a:solidFill>
              </a:rPr>
              <a:t>E-commerce</a:t>
            </a:r>
            <a:endParaRPr lang="en-US" sz="683" dirty="0"/>
          </a:p>
        </p:txBody>
      </p:sp>
      <p:sp>
        <p:nvSpPr>
          <p:cNvPr id="25" name="Text 22"/>
          <p:cNvSpPr/>
          <p:nvPr/>
        </p:nvSpPr>
        <p:spPr>
          <a:xfrm>
            <a:off x="557213" y="2610259"/>
            <a:ext cx="1678781" cy="119993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Order fulfillment routing</a:t>
            </a:r>
            <a:endParaRPr lang="en-US" sz="621" dirty="0"/>
          </a:p>
        </p:txBody>
      </p:sp>
      <p:sp>
        <p:nvSpPr>
          <p:cNvPr id="26" name="Text 23"/>
          <p:cNvSpPr/>
          <p:nvPr/>
        </p:nvSpPr>
        <p:spPr>
          <a:xfrm>
            <a:off x="557213" y="2815977"/>
            <a:ext cx="1678781" cy="119993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Return/refund approvals</a:t>
            </a:r>
            <a:endParaRPr lang="en-US" sz="621" dirty="0"/>
          </a:p>
        </p:txBody>
      </p:sp>
      <p:sp>
        <p:nvSpPr>
          <p:cNvPr id="27" name="Text 24"/>
          <p:cNvSpPr/>
          <p:nvPr/>
        </p:nvSpPr>
        <p:spPr>
          <a:xfrm>
            <a:off x="557213" y="3021695"/>
            <a:ext cx="1678781" cy="119993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Inventory management decisions</a:t>
            </a:r>
            <a:endParaRPr lang="en-US" sz="621" dirty="0"/>
          </a:p>
        </p:txBody>
      </p:sp>
      <p:sp>
        <p:nvSpPr>
          <p:cNvPr id="28" name="Shape 25"/>
          <p:cNvSpPr/>
          <p:nvPr/>
        </p:nvSpPr>
        <p:spPr>
          <a:xfrm>
            <a:off x="2493169" y="2174491"/>
            <a:ext cx="1935956" cy="1095784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9" name="Shape 26"/>
          <p:cNvSpPr/>
          <p:nvPr/>
        </p:nvSpPr>
        <p:spPr>
          <a:xfrm>
            <a:off x="2493169" y="2174491"/>
            <a:ext cx="35719" cy="1095784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30" name="Text 27"/>
          <p:cNvSpPr/>
          <p:nvPr/>
        </p:nvSpPr>
        <p:spPr>
          <a:xfrm>
            <a:off x="557213" y="2610259"/>
            <a:ext cx="857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38B2AC"/>
                </a:solidFill>
              </a:rPr>
              <a:t>→</a:t>
            </a:r>
            <a:endParaRPr lang="en-US" sz="584" dirty="0"/>
          </a:p>
        </p:txBody>
      </p:sp>
      <p:sp>
        <p:nvSpPr>
          <p:cNvPr id="31" name="Text 28"/>
          <p:cNvSpPr/>
          <p:nvPr/>
        </p:nvSpPr>
        <p:spPr>
          <a:xfrm>
            <a:off x="557213" y="2815977"/>
            <a:ext cx="857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38B2AC"/>
                </a:solidFill>
              </a:rPr>
              <a:t>→</a:t>
            </a:r>
            <a:endParaRPr lang="en-US" sz="584" dirty="0"/>
          </a:p>
        </p:txBody>
      </p:sp>
      <p:sp>
        <p:nvSpPr>
          <p:cNvPr id="32" name="Text 29"/>
          <p:cNvSpPr/>
          <p:nvPr/>
        </p:nvSpPr>
        <p:spPr>
          <a:xfrm>
            <a:off x="557213" y="3021695"/>
            <a:ext cx="857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38B2AC"/>
                </a:solidFill>
              </a:rPr>
              <a:t>→</a:t>
            </a:r>
            <a:endParaRPr lang="en-US" sz="584" dirty="0"/>
          </a:p>
        </p:txBody>
      </p:sp>
      <p:sp>
        <p:nvSpPr>
          <p:cNvPr id="33" name="Text 30"/>
          <p:cNvSpPr/>
          <p:nvPr/>
        </p:nvSpPr>
        <p:spPr>
          <a:xfrm>
            <a:off x="2621756" y="2303078"/>
            <a:ext cx="1678781" cy="221456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365D"/>
                </a:solidFill>
              </a:rPr>
              <a:t>Supply Chain</a:t>
            </a:r>
            <a:endParaRPr lang="en-US" sz="683" dirty="0"/>
          </a:p>
        </p:txBody>
      </p:sp>
      <p:sp>
        <p:nvSpPr>
          <p:cNvPr id="34" name="Text 31"/>
          <p:cNvSpPr/>
          <p:nvPr/>
        </p:nvSpPr>
        <p:spPr>
          <a:xfrm>
            <a:off x="2621756" y="2610259"/>
            <a:ext cx="1678781" cy="119993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Procurement approvals</a:t>
            </a:r>
            <a:endParaRPr lang="en-US" sz="621" dirty="0"/>
          </a:p>
        </p:txBody>
      </p:sp>
      <p:sp>
        <p:nvSpPr>
          <p:cNvPr id="35" name="Text 32"/>
          <p:cNvSpPr/>
          <p:nvPr/>
        </p:nvSpPr>
        <p:spPr>
          <a:xfrm>
            <a:off x="2621756" y="2815977"/>
            <a:ext cx="1678781" cy="119993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Vendor selection processes</a:t>
            </a:r>
            <a:endParaRPr lang="en-US" sz="621" dirty="0"/>
          </a:p>
        </p:txBody>
      </p:sp>
      <p:sp>
        <p:nvSpPr>
          <p:cNvPr id="36" name="Text 33"/>
          <p:cNvSpPr/>
          <p:nvPr/>
        </p:nvSpPr>
        <p:spPr>
          <a:xfrm>
            <a:off x="2621756" y="3021695"/>
            <a:ext cx="1678781" cy="119993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Multi-stage quality checks</a:t>
            </a:r>
            <a:endParaRPr lang="en-US" sz="621" dirty="0"/>
          </a:p>
        </p:txBody>
      </p:sp>
      <p:sp>
        <p:nvSpPr>
          <p:cNvPr id="37" name="Text 34"/>
          <p:cNvSpPr/>
          <p:nvPr/>
        </p:nvSpPr>
        <p:spPr>
          <a:xfrm>
            <a:off x="2621756" y="2610259"/>
            <a:ext cx="857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38B2AC"/>
                </a:solidFill>
              </a:rPr>
              <a:t>→</a:t>
            </a:r>
            <a:endParaRPr lang="en-US" sz="584" dirty="0"/>
          </a:p>
        </p:txBody>
      </p:sp>
      <p:sp>
        <p:nvSpPr>
          <p:cNvPr id="38" name="Text 35"/>
          <p:cNvSpPr/>
          <p:nvPr/>
        </p:nvSpPr>
        <p:spPr>
          <a:xfrm>
            <a:off x="2621756" y="2815977"/>
            <a:ext cx="857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38B2AC"/>
                </a:solidFill>
              </a:rPr>
              <a:t>→</a:t>
            </a:r>
            <a:endParaRPr lang="en-US" sz="584" dirty="0"/>
          </a:p>
        </p:txBody>
      </p:sp>
      <p:sp>
        <p:nvSpPr>
          <p:cNvPr id="39" name="Text 36"/>
          <p:cNvSpPr/>
          <p:nvPr/>
        </p:nvSpPr>
        <p:spPr>
          <a:xfrm>
            <a:off x="2621756" y="3021695"/>
            <a:ext cx="857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38B2AC"/>
                </a:solidFill>
              </a:rPr>
              <a:t>→</a:t>
            </a:r>
            <a:endParaRPr lang="en-US" sz="584" dirty="0"/>
          </a:p>
        </p:txBody>
      </p:sp>
      <p:pic>
        <p:nvPicPr>
          <p:cNvPr id="4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75" y="950119"/>
            <a:ext cx="4000500" cy="2000250"/>
          </a:xfrm>
          <a:prstGeom prst="rect">
            <a:avLst/>
          </a:prstGeom>
        </p:spPr>
      </p:pic>
      <p:sp>
        <p:nvSpPr>
          <p:cNvPr id="41" name="Shape 37"/>
          <p:cNvSpPr/>
          <p:nvPr/>
        </p:nvSpPr>
        <p:spPr>
          <a:xfrm>
            <a:off x="4714875" y="3164681"/>
            <a:ext cx="4000500" cy="1299381"/>
          </a:xfrm>
          <a:prstGeom prst="rect">
            <a:avLst/>
          </a:prstGeom>
          <a:solidFill>
            <a:srgbClr val="FEF5E7"/>
          </a:solidFill>
          <a:ln/>
        </p:spPr>
      </p:sp>
      <p:sp>
        <p:nvSpPr>
          <p:cNvPr id="42" name="Shape 38"/>
          <p:cNvSpPr/>
          <p:nvPr/>
        </p:nvSpPr>
        <p:spPr>
          <a:xfrm>
            <a:off x="4714875" y="3164681"/>
            <a:ext cx="35719" cy="1299381"/>
          </a:xfrm>
          <a:prstGeom prst="rect">
            <a:avLst/>
          </a:prstGeom>
          <a:solidFill>
            <a:srgbClr val="D53F8C"/>
          </a:solidFill>
          <a:ln/>
        </p:spPr>
      </p:sp>
      <p:sp>
        <p:nvSpPr>
          <p:cNvPr id="43" name="Text 39"/>
          <p:cNvSpPr/>
          <p:nvPr/>
        </p:nvSpPr>
        <p:spPr>
          <a:xfrm>
            <a:off x="4843463" y="3293269"/>
            <a:ext cx="3743325" cy="210741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65D"/>
                </a:solidFill>
              </a:rPr>
              <a:t>The Paradigm Shift</a:t>
            </a:r>
            <a:endParaRPr lang="en-US" sz="634" dirty="0"/>
          </a:p>
        </p:txBody>
      </p:sp>
      <p:sp>
        <p:nvSpPr>
          <p:cNvPr id="44" name="Text 40"/>
          <p:cNvSpPr/>
          <p:nvPr/>
        </p:nvSpPr>
        <p:spPr>
          <a:xfrm>
            <a:off x="4843463" y="3589734"/>
            <a:ext cx="1878806" cy="359978"/>
          </a:xfrm>
          <a:prstGeom prst="rect">
            <a:avLst/>
          </a:prstGeom>
          <a:noFill/>
          <a:ln/>
        </p:spPr>
        <p:txBody>
          <a:bodyPr wrap="square" lIns="0" tIns="0" rIns="8509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D97706"/>
                </a:solidFill>
              </a:rPr>
              <a:t>Traditional: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 Test automation lags months behind </a:t>
            </a:r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development</a:t>
            </a:r>
            <a:endParaRPr lang="en-US" sz="584" dirty="0"/>
          </a:p>
        </p:txBody>
      </p:sp>
      <p:sp>
        <p:nvSpPr>
          <p:cNvPr id="45" name="Text 41"/>
          <p:cNvSpPr/>
          <p:nvPr/>
        </p:nvSpPr>
        <p:spPr>
          <a:xfrm>
            <a:off x="6722269" y="3589734"/>
            <a:ext cx="1864519" cy="359978"/>
          </a:xfrm>
          <a:prstGeom prst="rect">
            <a:avLst/>
          </a:prstGeom>
          <a:noFill/>
          <a:ln/>
        </p:spPr>
        <p:txBody>
          <a:bodyPr wrap="square" lIns="8509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38B2AC"/>
                </a:solidFill>
              </a:rPr>
              <a:t>With AI:</a:t>
            </a:r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38B2AC"/>
                </a:solidFill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38B2AC"/>
                </a:solidFill>
              </a:rPr>
              <a:t> Test automation ready as fast as (or faster </a:t>
            </a:r>
            <a:pPr algn="l" indent="0" marL="0">
              <a:lnSpc>
                <a:spcPts val="900"/>
              </a:lnSpc>
              <a:buNone/>
            </a:pPr>
            <a:r>
              <a:rPr lang="en-US" sz="584" b="1" dirty="0">
                <a:solidFill>
                  <a:srgbClr val="38B2AC"/>
                </a:solidFill>
              </a:rPr>
              <a:t>than) features</a:t>
            </a:r>
            <a:endParaRPr lang="en-US" sz="584" dirty="0"/>
          </a:p>
        </p:txBody>
      </p:sp>
      <p:sp>
        <p:nvSpPr>
          <p:cNvPr id="46" name="Shape 42"/>
          <p:cNvSpPr/>
          <p:nvPr/>
        </p:nvSpPr>
        <p:spPr>
          <a:xfrm>
            <a:off x="4843463" y="4035437"/>
            <a:ext cx="3743325" cy="300038"/>
          </a:xfrm>
          <a:prstGeom prst="rect">
            <a:avLst/>
          </a:prstGeom>
          <a:solidFill>
            <a:srgbClr val="D53F8C"/>
          </a:solidFill>
          <a:ln/>
        </p:spPr>
      </p:sp>
      <p:sp>
        <p:nvSpPr>
          <p:cNvPr id="47" name="Text 43"/>
          <p:cNvSpPr/>
          <p:nvPr/>
        </p:nvSpPr>
        <p:spPr>
          <a:xfrm>
            <a:off x="4843463" y="4035437"/>
            <a:ext cx="3743325" cy="30003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Result:</a:t>
            </a:r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 Faster, safer deployments with comprehensive coverage</a:t>
            </a:r>
            <a:endParaRPr lang="en-US" sz="584" dirty="0"/>
          </a:p>
        </p:txBody>
      </p:sp>
      <p:sp>
        <p:nvSpPr>
          <p:cNvPr id="48" name="Shape 44"/>
          <p:cNvSpPr/>
          <p:nvPr/>
        </p:nvSpPr>
        <p:spPr>
          <a:xfrm>
            <a:off x="4714875" y="4714094"/>
            <a:ext cx="4000500" cy="539353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49" name="Shape 45"/>
          <p:cNvSpPr/>
          <p:nvPr/>
        </p:nvSpPr>
        <p:spPr>
          <a:xfrm>
            <a:off x="4714875" y="4714094"/>
            <a:ext cx="35719" cy="539353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50" name="Text 46"/>
          <p:cNvSpPr/>
          <p:nvPr/>
        </p:nvSpPr>
        <p:spPr>
          <a:xfrm>
            <a:off x="4822031" y="4821250"/>
            <a:ext cx="37861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365D"/>
                </a:solidFill>
              </a:rPr>
              <a:t>Core Transferable Principle</a:t>
            </a:r>
            <a:endParaRPr lang="en-US" sz="584" dirty="0"/>
          </a:p>
        </p:txBody>
      </p:sp>
      <p:sp>
        <p:nvSpPr>
          <p:cNvPr id="51" name="Text 47"/>
          <p:cNvSpPr/>
          <p:nvPr/>
        </p:nvSpPr>
        <p:spPr>
          <a:xfrm>
            <a:off x="4822031" y="5006987"/>
            <a:ext cx="378618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D3748"/>
                </a:solidFill>
              </a:rPr>
              <a:t>Use AI to map complex processes that humans struggle to visualize comprehensively</a:t>
            </a:r>
            <a:endParaRPr lang="en-US" sz="674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247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1A365D"/>
                </a:solidFill>
              </a:rPr>
              <a:t>Closing &amp; Key Takeaways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428625" y="807244"/>
            <a:ext cx="4843463" cy="579313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807244"/>
            <a:ext cx="35719" cy="579313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6" name="Shape 3"/>
          <p:cNvSpPr/>
          <p:nvPr/>
        </p:nvSpPr>
        <p:spPr>
          <a:xfrm>
            <a:off x="514350" y="892969"/>
            <a:ext cx="257175" cy="257175"/>
          </a:xfrm>
          <a:prstGeom prst="ellipse">
            <a:avLst/>
          </a:prstGeom>
          <a:solidFill>
            <a:srgbClr val="D53F8C"/>
          </a:solidFill>
          <a:ln/>
        </p:spPr>
      </p:sp>
      <p:sp>
        <p:nvSpPr>
          <p:cNvPr id="7" name="Text 4"/>
          <p:cNvSpPr/>
          <p:nvPr/>
        </p:nvSpPr>
        <p:spPr>
          <a:xfrm>
            <a:off x="514350" y="892969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1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857250" y="892969"/>
            <a:ext cx="432911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65D"/>
                </a:solidFill>
              </a:rPr>
              <a:t>AI Democratizes Expertise</a:t>
            </a:r>
            <a:endParaRPr lang="en-US" sz="634" dirty="0"/>
          </a:p>
        </p:txBody>
      </p:sp>
      <p:sp>
        <p:nvSpPr>
          <p:cNvPr id="9" name="Text 6"/>
          <p:cNvSpPr/>
          <p:nvPr/>
        </p:nvSpPr>
        <p:spPr>
          <a:xfrm>
            <a:off x="857250" y="1060847"/>
            <a:ext cx="4329113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One person + AI can accomplish team-level work. No AI PhD required—just clear problem description and willingness to iterate.</a:t>
            </a:r>
            <a:endParaRPr lang="en-US" sz="621" dirty="0"/>
          </a:p>
        </p:txBody>
      </p:sp>
      <p:sp>
        <p:nvSpPr>
          <p:cNvPr id="10" name="Shape 7"/>
          <p:cNvSpPr/>
          <p:nvPr/>
        </p:nvSpPr>
        <p:spPr>
          <a:xfrm>
            <a:off x="428625" y="1457995"/>
            <a:ext cx="4843463" cy="579313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1" name="Shape 8"/>
          <p:cNvSpPr/>
          <p:nvPr/>
        </p:nvSpPr>
        <p:spPr>
          <a:xfrm>
            <a:off x="428625" y="1457995"/>
            <a:ext cx="35719" cy="579313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12" name="Shape 9"/>
          <p:cNvSpPr/>
          <p:nvPr/>
        </p:nvSpPr>
        <p:spPr>
          <a:xfrm>
            <a:off x="514350" y="1543720"/>
            <a:ext cx="257175" cy="257175"/>
          </a:xfrm>
          <a:prstGeom prst="ellipse">
            <a:avLst/>
          </a:prstGeom>
          <a:solidFill>
            <a:srgbClr val="D53F8C"/>
          </a:solidFill>
          <a:ln/>
        </p:spPr>
      </p:sp>
      <p:sp>
        <p:nvSpPr>
          <p:cNvPr id="13" name="Text 10"/>
          <p:cNvSpPr/>
          <p:nvPr/>
        </p:nvSpPr>
        <p:spPr>
          <a:xfrm>
            <a:off x="514350" y="1543720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2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857250" y="1543720"/>
            <a:ext cx="432911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65D"/>
                </a:solidFill>
              </a:rPr>
              <a:t>Start with Understanding, Not Coding</a:t>
            </a:r>
            <a:endParaRPr lang="en-US" sz="634" dirty="0"/>
          </a:p>
        </p:txBody>
      </p:sp>
      <p:sp>
        <p:nvSpPr>
          <p:cNvPr id="15" name="Text 12"/>
          <p:cNvSpPr/>
          <p:nvPr/>
        </p:nvSpPr>
        <p:spPr>
          <a:xfrm>
            <a:off x="857250" y="1711598"/>
            <a:ext cx="4329113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Use AI to map the problem space first. Understanding business logic creates a solid foundation; coding becomes easier.</a:t>
            </a:r>
            <a:endParaRPr lang="en-US" sz="621" dirty="0"/>
          </a:p>
        </p:txBody>
      </p:sp>
      <p:sp>
        <p:nvSpPr>
          <p:cNvPr id="16" name="Shape 13"/>
          <p:cNvSpPr/>
          <p:nvPr/>
        </p:nvSpPr>
        <p:spPr>
          <a:xfrm>
            <a:off x="428625" y="2108746"/>
            <a:ext cx="4843463" cy="579313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7" name="Shape 14"/>
          <p:cNvSpPr/>
          <p:nvPr/>
        </p:nvSpPr>
        <p:spPr>
          <a:xfrm>
            <a:off x="428625" y="2108746"/>
            <a:ext cx="35719" cy="579313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18" name="Shape 15"/>
          <p:cNvSpPr/>
          <p:nvPr/>
        </p:nvSpPr>
        <p:spPr>
          <a:xfrm>
            <a:off x="514350" y="2194471"/>
            <a:ext cx="257175" cy="257175"/>
          </a:xfrm>
          <a:prstGeom prst="ellipse">
            <a:avLst/>
          </a:prstGeom>
          <a:solidFill>
            <a:srgbClr val="D53F8C"/>
          </a:solidFill>
          <a:ln/>
        </p:spPr>
      </p:sp>
      <p:sp>
        <p:nvSpPr>
          <p:cNvPr id="19" name="Text 16"/>
          <p:cNvSpPr/>
          <p:nvPr/>
        </p:nvSpPr>
        <p:spPr>
          <a:xfrm>
            <a:off x="514350" y="2194471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3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857250" y="2194471"/>
            <a:ext cx="432911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65D"/>
                </a:solidFill>
              </a:rPr>
              <a:t>Iterate and Validate</a:t>
            </a:r>
            <a:endParaRPr lang="en-US" sz="634" dirty="0"/>
          </a:p>
        </p:txBody>
      </p:sp>
      <p:sp>
        <p:nvSpPr>
          <p:cNvPr id="21" name="Text 18"/>
          <p:cNvSpPr/>
          <p:nvPr/>
        </p:nvSpPr>
        <p:spPr>
          <a:xfrm>
            <a:off x="857250" y="2362349"/>
            <a:ext cx="4329113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AI accelerates execution; humans ensure correctness. Best results from continuous refinement and collaborative validation.</a:t>
            </a:r>
            <a:endParaRPr lang="en-US" sz="621" dirty="0"/>
          </a:p>
        </p:txBody>
      </p:sp>
      <p:sp>
        <p:nvSpPr>
          <p:cNvPr id="22" name="Shape 19"/>
          <p:cNvSpPr/>
          <p:nvPr/>
        </p:nvSpPr>
        <p:spPr>
          <a:xfrm>
            <a:off x="428625" y="2759497"/>
            <a:ext cx="4843463" cy="579313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3" name="Shape 20"/>
          <p:cNvSpPr/>
          <p:nvPr/>
        </p:nvSpPr>
        <p:spPr>
          <a:xfrm>
            <a:off x="428625" y="2759497"/>
            <a:ext cx="35719" cy="579313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24" name="Shape 21"/>
          <p:cNvSpPr/>
          <p:nvPr/>
        </p:nvSpPr>
        <p:spPr>
          <a:xfrm>
            <a:off x="514350" y="2845222"/>
            <a:ext cx="257175" cy="257175"/>
          </a:xfrm>
          <a:prstGeom prst="ellipse">
            <a:avLst/>
          </a:prstGeom>
          <a:solidFill>
            <a:srgbClr val="D53F8C"/>
          </a:solidFill>
          <a:ln/>
        </p:spPr>
      </p:sp>
      <p:sp>
        <p:nvSpPr>
          <p:cNvPr id="25" name="Text 22"/>
          <p:cNvSpPr/>
          <p:nvPr/>
        </p:nvSpPr>
        <p:spPr>
          <a:xfrm>
            <a:off x="514350" y="2845222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4</a:t>
            </a:r>
            <a:endParaRPr lang="en-US" sz="784" dirty="0"/>
          </a:p>
        </p:txBody>
      </p:sp>
      <p:sp>
        <p:nvSpPr>
          <p:cNvPr id="26" name="Text 23"/>
          <p:cNvSpPr/>
          <p:nvPr/>
        </p:nvSpPr>
        <p:spPr>
          <a:xfrm>
            <a:off x="857250" y="2845222"/>
            <a:ext cx="432911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65D"/>
                </a:solidFill>
              </a:rPr>
              <a:t>Think Transferably</a:t>
            </a:r>
            <a:endParaRPr lang="en-US" sz="634" dirty="0"/>
          </a:p>
        </p:txBody>
      </p:sp>
      <p:sp>
        <p:nvSpPr>
          <p:cNvPr id="27" name="Text 24"/>
          <p:cNvSpPr/>
          <p:nvPr/>
        </p:nvSpPr>
        <p:spPr>
          <a:xfrm>
            <a:off x="857250" y="3013100"/>
            <a:ext cx="4329113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These patterns work across industries. Any complex approval or routing logic is a candidate for AI-assisted automation.</a:t>
            </a:r>
            <a:endParaRPr lang="en-US" sz="621" dirty="0"/>
          </a:p>
        </p:txBody>
      </p:sp>
      <p:sp>
        <p:nvSpPr>
          <p:cNvPr id="28" name="Shape 25"/>
          <p:cNvSpPr/>
          <p:nvPr/>
        </p:nvSpPr>
        <p:spPr>
          <a:xfrm>
            <a:off x="428625" y="3410248"/>
            <a:ext cx="4843463" cy="579313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9" name="Shape 26"/>
          <p:cNvSpPr/>
          <p:nvPr/>
        </p:nvSpPr>
        <p:spPr>
          <a:xfrm>
            <a:off x="428625" y="3410248"/>
            <a:ext cx="35719" cy="579313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30" name="Shape 27"/>
          <p:cNvSpPr/>
          <p:nvPr/>
        </p:nvSpPr>
        <p:spPr>
          <a:xfrm>
            <a:off x="514350" y="3495973"/>
            <a:ext cx="257175" cy="257175"/>
          </a:xfrm>
          <a:prstGeom prst="ellipse">
            <a:avLst/>
          </a:prstGeom>
          <a:solidFill>
            <a:srgbClr val="D53F8C"/>
          </a:solidFill>
          <a:ln/>
        </p:spPr>
      </p:sp>
      <p:sp>
        <p:nvSpPr>
          <p:cNvPr id="31" name="Text 28"/>
          <p:cNvSpPr/>
          <p:nvPr/>
        </p:nvSpPr>
        <p:spPr>
          <a:xfrm>
            <a:off x="514350" y="3495973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5</a:t>
            </a:r>
            <a:endParaRPr lang="en-US" sz="784" dirty="0"/>
          </a:p>
        </p:txBody>
      </p:sp>
      <p:sp>
        <p:nvSpPr>
          <p:cNvPr id="32" name="Text 29"/>
          <p:cNvSpPr/>
          <p:nvPr/>
        </p:nvSpPr>
        <p:spPr>
          <a:xfrm>
            <a:off x="857250" y="3495973"/>
            <a:ext cx="432911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65D"/>
                </a:solidFill>
              </a:rPr>
              <a:t>Documentation Matters</a:t>
            </a:r>
            <a:endParaRPr lang="en-US" sz="634" dirty="0"/>
          </a:p>
        </p:txBody>
      </p:sp>
      <p:sp>
        <p:nvSpPr>
          <p:cNvPr id="33" name="Text 30"/>
          <p:cNvSpPr/>
          <p:nvPr/>
        </p:nvSpPr>
        <p:spPr>
          <a:xfrm>
            <a:off x="857250" y="3663851"/>
            <a:ext cx="4329113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D3748"/>
                </a:solidFill>
              </a:rPr>
              <a:t>AI-generated docs ensure sustainability and transferability. Makes projects transferable beyond the original creator.</a:t>
            </a:r>
            <a:endParaRPr lang="en-US" sz="621" dirty="0"/>
          </a:p>
        </p:txBody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807244"/>
            <a:ext cx="3228975" cy="1143000"/>
          </a:xfrm>
          <a:prstGeom prst="rect">
            <a:avLst/>
          </a:prstGeom>
        </p:spPr>
      </p:pic>
      <p:sp>
        <p:nvSpPr>
          <p:cNvPr id="35" name="Shape 31"/>
          <p:cNvSpPr/>
          <p:nvPr/>
        </p:nvSpPr>
        <p:spPr>
          <a:xfrm>
            <a:off x="5486400" y="2128838"/>
            <a:ext cx="3228975" cy="1932161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6" name="Shape 32"/>
          <p:cNvSpPr/>
          <p:nvPr/>
        </p:nvSpPr>
        <p:spPr>
          <a:xfrm>
            <a:off x="5486400" y="2128838"/>
            <a:ext cx="35719" cy="1932161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37" name="Text 33"/>
          <p:cNvSpPr/>
          <p:nvPr/>
        </p:nvSpPr>
        <p:spPr>
          <a:xfrm>
            <a:off x="5572125" y="2214563"/>
            <a:ext cx="3057525" cy="175022"/>
          </a:xfrm>
          <a:prstGeom prst="rect">
            <a:avLst/>
          </a:prstGeom>
          <a:noFill/>
          <a:ln/>
        </p:spPr>
        <p:txBody>
          <a:bodyPr wrap="none" lIns="0" tIns="0" rIns="0" bIns="51054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1A365D"/>
                </a:solidFill>
              </a:rPr>
              <a:t>What's Next for Us</a:t>
            </a:r>
            <a:endParaRPr lang="en-US" sz="534" dirty="0"/>
          </a:p>
        </p:txBody>
      </p:sp>
      <p:sp>
        <p:nvSpPr>
          <p:cNvPr id="38" name="Text 34"/>
          <p:cNvSpPr/>
          <p:nvPr/>
        </p:nvSpPr>
        <p:spPr>
          <a:xfrm>
            <a:off x="5572125" y="2461022"/>
            <a:ext cx="3057525" cy="102133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68" dirty="0">
                <a:solidFill>
                  <a:srgbClr val="2D3748"/>
                </a:solidFill>
              </a:rPr>
              <a:t>Expanding to additional form types in the system</a:t>
            </a:r>
            <a:endParaRPr lang="en-US" sz="568" dirty="0"/>
          </a:p>
        </p:txBody>
      </p:sp>
      <p:sp>
        <p:nvSpPr>
          <p:cNvPr id="39" name="Text 35"/>
          <p:cNvSpPr/>
          <p:nvPr/>
        </p:nvSpPr>
        <p:spPr>
          <a:xfrm>
            <a:off x="5572125" y="2606018"/>
            <a:ext cx="3057525" cy="102133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68" dirty="0">
                <a:solidFill>
                  <a:srgbClr val="2D3748"/>
                </a:solidFill>
              </a:rPr>
              <a:t>AI-powered test data generation</a:t>
            </a:r>
            <a:endParaRPr lang="en-US" sz="568" dirty="0"/>
          </a:p>
        </p:txBody>
      </p:sp>
      <p:sp>
        <p:nvSpPr>
          <p:cNvPr id="40" name="Text 36"/>
          <p:cNvSpPr/>
          <p:nvPr/>
        </p:nvSpPr>
        <p:spPr>
          <a:xfrm>
            <a:off x="5572125" y="2751013"/>
            <a:ext cx="3057525" cy="102133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68" dirty="0">
                <a:solidFill>
                  <a:srgbClr val="2D3748"/>
                </a:solidFill>
              </a:rPr>
              <a:t>Self-healing tests (auto-fix selector changes)</a:t>
            </a:r>
            <a:endParaRPr lang="en-US" sz="568" dirty="0"/>
          </a:p>
        </p:txBody>
      </p:sp>
      <p:sp>
        <p:nvSpPr>
          <p:cNvPr id="41" name="Text 37"/>
          <p:cNvSpPr/>
          <p:nvPr/>
        </p:nvSpPr>
        <p:spPr>
          <a:xfrm>
            <a:off x="5572125" y="2896009"/>
            <a:ext cx="3057525" cy="102133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68" dirty="0">
                <a:solidFill>
                  <a:srgbClr val="2D3748"/>
                </a:solidFill>
              </a:rPr>
              <a:t>Natural language test interface for business users</a:t>
            </a:r>
            <a:endParaRPr lang="en-US" sz="568" dirty="0"/>
          </a:p>
        </p:txBody>
      </p:sp>
      <p:sp>
        <p:nvSpPr>
          <p:cNvPr id="42" name="Shape 38"/>
          <p:cNvSpPr/>
          <p:nvPr/>
        </p:nvSpPr>
        <p:spPr>
          <a:xfrm>
            <a:off x="428625" y="4168155"/>
            <a:ext cx="8286750" cy="77079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3" name="Shape 39"/>
          <p:cNvSpPr/>
          <p:nvPr/>
        </p:nvSpPr>
        <p:spPr>
          <a:xfrm>
            <a:off x="428625" y="4168155"/>
            <a:ext cx="8286750" cy="14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4" name="Text 40"/>
          <p:cNvSpPr/>
          <p:nvPr/>
        </p:nvSpPr>
        <p:spPr>
          <a:xfrm>
            <a:off x="5572125" y="2461022"/>
            <a:ext cx="71438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D53F8C"/>
                </a:solidFill>
              </a:rPr>
              <a:t>→</a:t>
            </a:r>
            <a:endParaRPr lang="en-US" sz="485" dirty="0"/>
          </a:p>
        </p:txBody>
      </p:sp>
      <p:sp>
        <p:nvSpPr>
          <p:cNvPr id="45" name="Text 41"/>
          <p:cNvSpPr/>
          <p:nvPr/>
        </p:nvSpPr>
        <p:spPr>
          <a:xfrm>
            <a:off x="5572125" y="2606018"/>
            <a:ext cx="71438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D53F8C"/>
                </a:solidFill>
              </a:rPr>
              <a:t>→</a:t>
            </a:r>
            <a:endParaRPr lang="en-US" sz="485" dirty="0"/>
          </a:p>
        </p:txBody>
      </p:sp>
      <p:sp>
        <p:nvSpPr>
          <p:cNvPr id="46" name="Text 42"/>
          <p:cNvSpPr/>
          <p:nvPr/>
        </p:nvSpPr>
        <p:spPr>
          <a:xfrm>
            <a:off x="5572125" y="2751013"/>
            <a:ext cx="71438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D53F8C"/>
                </a:solidFill>
              </a:rPr>
              <a:t>→</a:t>
            </a:r>
            <a:endParaRPr lang="en-US" sz="485" dirty="0"/>
          </a:p>
        </p:txBody>
      </p:sp>
      <p:sp>
        <p:nvSpPr>
          <p:cNvPr id="47" name="Text 43"/>
          <p:cNvSpPr/>
          <p:nvPr/>
        </p:nvSpPr>
        <p:spPr>
          <a:xfrm>
            <a:off x="5572125" y="2896009"/>
            <a:ext cx="71438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485" b="1" dirty="0">
                <a:solidFill>
                  <a:srgbClr val="D53F8C"/>
                </a:solidFill>
              </a:rPr>
              <a:t>→</a:t>
            </a:r>
            <a:endParaRPr lang="en-US" sz="485" dirty="0"/>
          </a:p>
        </p:txBody>
      </p:sp>
      <p:sp>
        <p:nvSpPr>
          <p:cNvPr id="48" name="Shape 44"/>
          <p:cNvSpPr/>
          <p:nvPr/>
        </p:nvSpPr>
        <p:spPr>
          <a:xfrm>
            <a:off x="428625" y="4275311"/>
            <a:ext cx="4071938" cy="649356"/>
          </a:xfrm>
          <a:prstGeom prst="rect">
            <a:avLst/>
          </a:prstGeom>
          <a:solidFill>
            <a:srgbClr val="C2185B"/>
          </a:solidFill>
          <a:ln/>
        </p:spPr>
      </p:sp>
      <p:sp>
        <p:nvSpPr>
          <p:cNvPr id="49" name="Text 45"/>
          <p:cNvSpPr/>
          <p:nvPr/>
        </p:nvSpPr>
        <p:spPr>
          <a:xfrm>
            <a:off x="535781" y="4382467"/>
            <a:ext cx="385762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FFFFFF">
                    <a:alpha val="90000"/>
                  </a:srgbClr>
                </a:solidFill>
              </a:rPr>
              <a:t>Call to Action</a:t>
            </a:r>
            <a:endParaRPr lang="en-US" sz="534" dirty="0"/>
          </a:p>
        </p:txBody>
      </p:sp>
      <p:sp>
        <p:nvSpPr>
          <p:cNvPr id="50" name="Text 46"/>
          <p:cNvSpPr/>
          <p:nvPr/>
        </p:nvSpPr>
        <p:spPr>
          <a:xfrm>
            <a:off x="535781" y="4557489"/>
            <a:ext cx="3857625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Consider where complex processes exist in your work that could benefit from AI-assisted mapping and automation.</a:t>
            </a:r>
            <a:endParaRPr lang="en-US" sz="634" dirty="0"/>
          </a:p>
        </p:txBody>
      </p:sp>
      <p:sp>
        <p:nvSpPr>
          <p:cNvPr id="51" name="Shape 47"/>
          <p:cNvSpPr/>
          <p:nvPr/>
        </p:nvSpPr>
        <p:spPr>
          <a:xfrm>
            <a:off x="4643438" y="4275311"/>
            <a:ext cx="4071938" cy="649356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52" name="Text 48"/>
          <p:cNvSpPr/>
          <p:nvPr/>
        </p:nvSpPr>
        <p:spPr>
          <a:xfrm>
            <a:off x="6108464" y="4449970"/>
            <a:ext cx="1141884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Questions?</a:t>
            </a:r>
            <a:endParaRPr lang="en-US" sz="139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2025-11-19T14:32:48Z</dcterms:created>
  <dcterms:modified xsi:type="dcterms:W3CDTF">2025-11-19T14:32:48Z</dcterms:modified>
</cp:coreProperties>
</file>